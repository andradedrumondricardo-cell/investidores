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ace848cd-f317-b6ca-d5d5-e2147b7f0806}">
          <p14:sldIdLst>
            <p14:sldId id="256"/>
          </p14:sldIdLst>
        </p14:section>
        <p14:section name="Tese" id="{ec25373e-fe65-bb36-229c-b17bf07633b9}">
          <p14:sldIdLst>
            <p14:sldId id="257"/>
            <p14:sldId id="258"/>
            <p14:sldId id="259"/>
          </p14:sldIdLst>
        </p14:section>
        <p14:section name="Estrutura" id="{560370f4-3f2b-b5bc-a244-5c567b3061bc}">
          <p14:sldIdLst>
            <p14:sldId id="260"/>
            <p14:sldId id="261"/>
            <p14:sldId id="262"/>
          </p14:sldIdLst>
        </p14:section>
        <p14:section name="Escala" id="{df786c5e-52a5-e2ba-4772-8f757e6941b9}">
          <p14:sldIdLst>
            <p14:sldId id="263"/>
            <p14:sldId id="264"/>
            <p14:sldId id="265"/>
          </p14:sldIdLst>
        </p14:section>
        <p14:section name="Próximos passos" id="{09050ebb-3be7-4275-5988-6f714631795b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chemeClr val="tx2"/>
                </a:solidFill>
                <a:latin typeface="+mn-lt"/>
              </a:defRPr>
            </a:pPr>
            <a:r>
              <a:rPr sz="1400" b="0" i="0" u="none" strike="noStrike">
                <a:solidFill>
                  <a:schemeClr val="tx2"/>
                </a:solidFill>
                <a:latin typeface="+mn-lt"/>
              </a:rPr>
              <a:t>Projetos potenciais (R$ milhões)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Projetos potenciais (R$ mi)</c:v>
                </c:pt>
              </c:strCache>
            </c:strRef>
          </c:tx>
          <c:spPr>
            <a:solidFill>
              <a:srgbClr val="F7B32B"/>
            </a:solidFill>
            <a:effectLst/>
          </c:spPr>
          <c:invertIfNegative val="0"/>
          <c:dLbls>
            <c:numFmt formatCode="&quot;R$ &quot;0&quot;,&quot;0&quot; mi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7B3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641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3FC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1% da carteira</c:v>
                  </c:pt>
                  <c:pt idx="1">
                    <c:v>3% da carteira</c:v>
                  </c:pt>
                  <c:pt idx="2">
                    <c:v>5% da carteira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</c:v>
                </c:pt>
                <c:pt idx="1">
                  <c:v>273</c:v>
                </c:pt>
                <c:pt idx="2">
                  <c:v>454</c:v>
                </c:pt>
              </c:numCache>
            </c:numRef>
          </c:val>
        </c:ser>
        <c:dLbls>
          <c:numFmt formatCode="&quot;R$ &quot;0&quot;,&quot;0&quot; mi&quot;" sourceLinked="0"/>
          <c:txPr>
            <a:bodyPr/>
            <a:lstStyle/>
            <a:p>
              <a:pPr>
                <a:defRPr b="1" i="0" strike="noStrike" sz="1600" u="none">
                  <a:solidFill>
                    <a:schemeClr val="tx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4F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pela remuneração praticada atualmente e explicar que a participação ocorrerá por meio de uma SCP com jornada digital pela Trustt. IPCA + 15% ao ano não representa garantia de retorno futuro.
[Sources]
- Remuneração atual de IPCA + 15% ao ano e capacidade mensal de R$ 1 milhão informadas pelo usuário.
- Identidade visual de referência: https://zeroinvest.com.br/
- Trustt: https://trustt.digital/scp-real-estate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Métricas internas de tração: R$ 695 mil captados, 8 ativos e R$ 100 mil em dividendos pagos aos investidores nos últimos 12 meses. Usar como prova de validação, sem projetar crescimento não aprovado.
[Sources]
- Dados internos Gorila Energy / ESP, base informada pelo usuário.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Trustt funciona como infraestrutura digital da SCP. Não apresentar a plataforma como garantidora do retorno, custodiante bancária ou responsável pela operação das usinas.
[Sources]
- Termos econômicos e contratuais informados pelo usuário.
- Trustt SCP: https://trustt.digital/scp-real-estate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Inadimplência zero descreve apenas a base atual e não garante o comportamento futuro. Critérios de crédito, concentração e mecanismos de controle devem ser definidos na diligência do investidor.
[Sources]
- Histórico e mecanismos de proteção informados pelo usuário.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a distinção pedida pelo usuário: Gorila Energy é a marca; ESP é a empresa responsável pela operação.
[Sources]
- Arquitetura de marca e operação fornecida pelo usuário.
- Manual e logos oficiais Gorila Energy fornecidos pelo usuário.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Cálculo ilustrativo: R$ 1 milhão dividido pelo ticket médio aproximado de R$ 202 mil equivale a 4,95 projetos por mês, ou cerca de 60 por ano. A quantidade final depende do orçamento e da análise de cada projeto.
IPCA + 15% ao ano representa a remuneração praticada atualmente. A taxa final e as demais condições dependem da estrutura escolhida e da aprovação do investidor.
[Sources]
- Capacidade mensal de R$ 1 milhão e remuneração atual de IPCA + 15% ao ano informadas pelo usuário.
- Ticket médio calculado com base no pipeline: R$ 10,7 milhões dividido por 53 condomínios, aproximadamente R$ 202 mil.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Trustt informa que centraliza contratos, adesão de participantes, registros, relatórios e gestão do quadro de participantes. A plataforma declara que não realiza oferta pública de valores mobiliários.
[Sources]
- Trustt SCP: https://trustt.digital/scp-real-estate
- Trustt institucional: https://trustt.digital/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mensagem combina capacidade de mobilização nacional, histórico executivo dos sócios e acesso comercial qualificado a condomínios.
[Sources]
- Históricos profissionais do arquivo socios.pptx fornecido pelo usuário.
- Arquitetura operacional Gorila Energy / ESP fornecida pelo usuário.
- Parceria com a Lello e carteira de 4.500 prédios informadas pelo usuário.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pipeline atual cobre mais de dez meses da cadência pretendida. A carteira de 4.500 prédios da Lello funciona como canal contínuo de reposição do funil. Cada aquisição permanece sujeita aos critérios de elegibilidade definidos com o investidor.
[Sources]
- Pipeline de 53 condomínios e R$ 10,7 milhões informado pelo usuário, base abril de 2025.
- Contrato médio de 12 anos e condição comercial de 30% de economia informados pelo usuário.
- Parceria com a Lello e carteira de 4.500 prédios informadas pelo usuário.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cenários mostram a sensibilidade da oportunidade a pequenas taxas de conversão da carteira Lello. Não são projeções nem garantias de venda.
[Sources]
- Carteira Lello de 4.500 prédios informada pelo usuário.
- Ticket médio calculado a partir do pipeline informado: R$ 10,7 milhões dividido por 53 condomínios = aproximadamente R$ 202 mil por condomínio.
- Cálculos: 45 × R$ 202 mil ≈ R$ 9,1 milhões; 135 × R$ 202 mil ≈ R$ 27,3 milhões; 225 × R$ 202 mil ≈ R$ 45,4 milhões.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a jornada prática de adesão pela Trustt. IPCA + 15% ao ano representa a remuneração praticada atualmente, e não uma garantia de rentabilidade futura. O investidor deve analisar contrato da SCP, riscos, prazo, regras de distribuição e hipóteses de saída antes do aporte.
[Sources]
- Capacidade mensal de R$ 1 milhão e remuneração atual de IPCA + 15% ao ano informadas pelo usuário.
- Trustt SCP: https://trustt.digital/scp-real-estate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accent3"/>
                </a:solidFill>
              </a:rPr>
              <a:t>ZERO INVEST  •  GORILA ENERGY  •  OPERAÇÃO ESP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A0F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accent2"/>
                </a:solidFill>
              </a:rPr>
              <a:t>ZERO INVEST  •  GORILA ENERGY  •  OPERAÇÃO ESP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A0F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ver-panel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" name="mark-ring"/>
          <p:cNvSpPr/>
          <p:nvPr/>
        </p:nvSpPr>
        <p:spPr>
          <a:xfrm>
            <a:off x="8366760" y="1234440"/>
            <a:ext cx="3337560" cy="333756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pic>
        <p:nvPicPr>
          <p:cNvPr id="5" name="Image 0" descr="Símbolo Gorila Energ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1805940"/>
            <a:ext cx="1600200" cy="2194560"/>
          </a:xfrm>
          <a:prstGeom prst="rect">
            <a:avLst/>
          </a:prstGeom>
        </p:spPr>
      </p:pic>
      <p:pic>
        <p:nvPicPr>
          <p:cNvPr id="6" name="Image 1" descr="Logo Gorila Energ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463040" cy="643370"/>
          </a:xfrm>
          <a:prstGeom prst="rect">
            <a:avLst/>
          </a:prstGeom>
        </p:spPr>
      </p:pic>
      <p:sp>
        <p:nvSpPr>
          <p:cNvPr id="7" name="pill-zero"/>
          <p:cNvSpPr/>
          <p:nvPr/>
        </p:nvSpPr>
        <p:spPr>
          <a:xfrm>
            <a:off x="2286000" y="566928"/>
            <a:ext cx="246888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8" name="Text 3"/>
          <p:cNvSpPr txBox="1"/>
          <p:nvPr/>
        </p:nvSpPr>
        <p:spPr>
          <a:xfrm>
            <a:off x="2286000" y="5669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ZERO INVEST  +  TRUSTT</a:t>
            </a:r>
            <a:endParaRPr lang="en-US" sz="11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1737360"/>
            <a:ext cx="7223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em energia solar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SCP</a:t>
            </a:r>
            <a:endParaRPr lang="en-US" sz="38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33375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CCF0"/>
                </a:solidFill>
              </a:rPr>
              <a:t>Participação digital pela Trustt em uma carteira de projetos ZeroInvest.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4800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IPCA + 15%</a:t>
            </a:r>
            <a:endParaRPr lang="en-US" sz="2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349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AEE0"/>
                </a:solidFill>
              </a:rPr>
              <a:t>remuneração atual a.a.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2834640" y="4800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R$ 100 mil</a:t>
            </a:r>
            <a:endParaRPr lang="en-US" sz="2600" dirty="0"/>
          </a:p>
        </p:txBody>
      </p:sp>
      <p:sp>
        <p:nvSpPr>
          <p:cNvPr id="14" name="Text 9"/>
          <p:cNvSpPr txBox="1"/>
          <p:nvPr/>
        </p:nvSpPr>
        <p:spPr>
          <a:xfrm>
            <a:off x="2834640" y="5349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AEE0"/>
                </a:solidFill>
              </a:rPr>
              <a:t>dividendos pagos em 12 meses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5120640" y="4800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2600" dirty="0"/>
          </a:p>
        </p:txBody>
      </p:sp>
      <p:sp>
        <p:nvSpPr>
          <p:cNvPr id="16" name="Text 11"/>
          <p:cNvSpPr txBox="1"/>
          <p:nvPr/>
        </p:nvSpPr>
        <p:spPr>
          <a:xfrm>
            <a:off x="5120640" y="5349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AEE0"/>
                </a:solidFill>
              </a:rPr>
              <a:t>inadimplência histórica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GORILA ENERGY  •  OPERAÇÃO ESP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7863840" y="5029200"/>
            <a:ext cx="4327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9CCF0"/>
                </a:solidFill>
              </a:rPr>
              <a:t>Energia solar para condomínios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TRAÇÃO COMPROVADA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 modelo já saiu do papel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4F70"/>
                </a:solidFill>
              </a:rPr>
              <a:t>Uma base pequena, real e suficiente para validar operação, contrato e adimplência.</a:t>
            </a:r>
            <a:endParaRPr lang="en-US" sz="1600" dirty="0"/>
          </a:p>
        </p:txBody>
      </p:sp>
      <p:sp>
        <p:nvSpPr>
          <p:cNvPr id="6" name="stat-card-0"/>
          <p:cNvSpPr/>
          <p:nvPr/>
        </p:nvSpPr>
        <p:spPr>
          <a:xfrm>
            <a:off x="548640" y="2103120"/>
            <a:ext cx="2036003" cy="2560320"/>
          </a:xfrm>
          <a:prstGeom prst="roundRect">
            <a:avLst>
              <a:gd name="adj" fmla="val 6737"/>
            </a:avLst>
          </a:prstGeom>
          <a:solidFill>
            <a:schemeClr val="bg2"/>
          </a:solidFill>
          <a:ln/>
        </p:spPr>
      </p:sp>
      <p:sp>
        <p:nvSpPr>
          <p:cNvPr id="7" name="icon-circle-FaHandHoldingUsd"/>
          <p:cNvSpPr/>
          <p:nvPr/>
        </p:nvSpPr>
        <p:spPr>
          <a:xfrm>
            <a:off x="777240" y="23317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8" name="Image 0" descr="FaHandHoldingUs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4917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" y="3108960"/>
            <a:ext cx="17159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R$ 695 mil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703320"/>
            <a:ext cx="16245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4F70"/>
                </a:solidFill>
              </a:rPr>
              <a:t>capital captado</a:t>
            </a:r>
            <a:endParaRPr lang="en-US" sz="1400" dirty="0"/>
          </a:p>
        </p:txBody>
      </p:sp>
      <p:sp>
        <p:nvSpPr>
          <p:cNvPr id="11" name="stat-card-1"/>
          <p:cNvSpPr/>
          <p:nvPr/>
        </p:nvSpPr>
        <p:spPr>
          <a:xfrm>
            <a:off x="2813243" y="2103120"/>
            <a:ext cx="2036003" cy="2560320"/>
          </a:xfrm>
          <a:prstGeom prst="roundRect">
            <a:avLst>
              <a:gd name="adj" fmla="val 6737"/>
            </a:avLst>
          </a:prstGeom>
          <a:solidFill>
            <a:schemeClr val="bg2"/>
          </a:solidFill>
          <a:ln/>
        </p:spPr>
      </p:sp>
      <p:sp>
        <p:nvSpPr>
          <p:cNvPr id="12" name="icon-circle-FaSolarPanel"/>
          <p:cNvSpPr/>
          <p:nvPr/>
        </p:nvSpPr>
        <p:spPr>
          <a:xfrm>
            <a:off x="3041843" y="2331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FaSolarPan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863" y="24917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041843" y="3108960"/>
            <a:ext cx="17159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400" dirty="0"/>
          </a:p>
        </p:txBody>
      </p:sp>
      <p:sp>
        <p:nvSpPr>
          <p:cNvPr id="15" name="Text 10"/>
          <p:cNvSpPr txBox="1"/>
          <p:nvPr/>
        </p:nvSpPr>
        <p:spPr>
          <a:xfrm>
            <a:off x="3041843" y="3703320"/>
            <a:ext cx="16245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4F70"/>
                </a:solidFill>
              </a:rPr>
              <a:t>ativos fotovoltaicos</a:t>
            </a:r>
            <a:endParaRPr lang="en-US" sz="1400" dirty="0"/>
          </a:p>
        </p:txBody>
      </p:sp>
      <p:sp>
        <p:nvSpPr>
          <p:cNvPr id="16" name="stat-card-2"/>
          <p:cNvSpPr/>
          <p:nvPr/>
        </p:nvSpPr>
        <p:spPr>
          <a:xfrm>
            <a:off x="5077846" y="2103120"/>
            <a:ext cx="2036003" cy="2560320"/>
          </a:xfrm>
          <a:prstGeom prst="roundRect">
            <a:avLst>
              <a:gd name="adj" fmla="val 6737"/>
            </a:avLst>
          </a:prstGeom>
          <a:solidFill>
            <a:schemeClr val="bg2"/>
          </a:solidFill>
          <a:ln/>
        </p:spPr>
      </p:sp>
      <p:sp>
        <p:nvSpPr>
          <p:cNvPr id="17" name="icon-circle-FaFileContract"/>
          <p:cNvSpPr/>
          <p:nvPr/>
        </p:nvSpPr>
        <p:spPr>
          <a:xfrm>
            <a:off x="5306446" y="23317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FaFileContrac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6466" y="249174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06446" y="3108960"/>
            <a:ext cx="17159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R$ 2,9 mi</a:t>
            </a:r>
            <a:endParaRPr lang="en-US" sz="2400" dirty="0"/>
          </a:p>
        </p:txBody>
      </p:sp>
      <p:sp>
        <p:nvSpPr>
          <p:cNvPr id="20" name="Text 14"/>
          <p:cNvSpPr txBox="1"/>
          <p:nvPr/>
        </p:nvSpPr>
        <p:spPr>
          <a:xfrm>
            <a:off x="5306446" y="3703320"/>
            <a:ext cx="16245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4F70"/>
                </a:solidFill>
              </a:rPr>
              <a:t>recebíveis contratados</a:t>
            </a:r>
            <a:endParaRPr lang="en-US" sz="1400" dirty="0"/>
          </a:p>
        </p:txBody>
      </p:sp>
      <p:sp>
        <p:nvSpPr>
          <p:cNvPr id="21" name="stat-card-3"/>
          <p:cNvSpPr/>
          <p:nvPr/>
        </p:nvSpPr>
        <p:spPr>
          <a:xfrm>
            <a:off x="7342449" y="2103120"/>
            <a:ext cx="2036003" cy="2560320"/>
          </a:xfrm>
          <a:prstGeom prst="roundRect">
            <a:avLst>
              <a:gd name="adj" fmla="val 6737"/>
            </a:avLst>
          </a:prstGeom>
          <a:solidFill>
            <a:schemeClr val="bg2"/>
          </a:solidFill>
          <a:ln/>
        </p:spPr>
      </p:sp>
      <p:sp>
        <p:nvSpPr>
          <p:cNvPr id="22" name="icon-circle-FaShieldAlt"/>
          <p:cNvSpPr/>
          <p:nvPr/>
        </p:nvSpPr>
        <p:spPr>
          <a:xfrm>
            <a:off x="7571049" y="2331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3" descr="FaShield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069" y="2491740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571049" y="3108960"/>
            <a:ext cx="17159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2400" dirty="0"/>
          </a:p>
        </p:txBody>
      </p:sp>
      <p:sp>
        <p:nvSpPr>
          <p:cNvPr id="25" name="Text 18"/>
          <p:cNvSpPr txBox="1"/>
          <p:nvPr/>
        </p:nvSpPr>
        <p:spPr>
          <a:xfrm>
            <a:off x="7571049" y="3703320"/>
            <a:ext cx="16245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4F70"/>
                </a:solidFill>
              </a:rPr>
              <a:t>inadimplência</a:t>
            </a:r>
            <a:endParaRPr lang="en-US" sz="1400" dirty="0"/>
          </a:p>
        </p:txBody>
      </p:sp>
      <p:sp>
        <p:nvSpPr>
          <p:cNvPr id="26" name="stat-card-4"/>
          <p:cNvSpPr/>
          <p:nvPr/>
        </p:nvSpPr>
        <p:spPr>
          <a:xfrm>
            <a:off x="9607052" y="2103120"/>
            <a:ext cx="2036003" cy="2560320"/>
          </a:xfrm>
          <a:prstGeom prst="roundRect">
            <a:avLst>
              <a:gd name="adj" fmla="val 6737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52400" dist="38100" dir="5400000">
              <a:srgbClr val="2A0F52">
                <a:alpha val="12000"/>
              </a:srgbClr>
            </a:outerShdw>
          </a:effectLst>
        </p:spPr>
      </p:sp>
      <p:sp>
        <p:nvSpPr>
          <p:cNvPr id="27" name="icon-circle-FaCoins"/>
          <p:cNvSpPr/>
          <p:nvPr/>
        </p:nvSpPr>
        <p:spPr>
          <a:xfrm>
            <a:off x="9835652" y="233172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8" name="Image 4" descr="FaCoin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5672" y="2491740"/>
            <a:ext cx="320040" cy="32004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9835652" y="3108960"/>
            <a:ext cx="17159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R$ 100 mil</a:t>
            </a:r>
            <a:endParaRPr lang="en-US" sz="2400" dirty="0"/>
          </a:p>
        </p:txBody>
      </p:sp>
      <p:sp>
        <p:nvSpPr>
          <p:cNvPr id="30" name="Text 22"/>
          <p:cNvSpPr txBox="1"/>
          <p:nvPr/>
        </p:nvSpPr>
        <p:spPr>
          <a:xfrm>
            <a:off x="9835652" y="3703320"/>
            <a:ext cx="16245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dividendos pagos aos investidores em 12 meses</a:t>
            </a:r>
            <a:endParaRPr lang="en-US" sz="1400" dirty="0"/>
          </a:p>
        </p:txBody>
      </p:sp>
      <p:sp>
        <p:nvSpPr>
          <p:cNvPr id="31" name="callout"/>
          <p:cNvSpPr/>
          <p:nvPr/>
        </p:nvSpPr>
        <p:spPr>
          <a:xfrm>
            <a:off x="548640" y="4983480"/>
            <a:ext cx="11094415" cy="1005840"/>
          </a:xfrm>
          <a:prstGeom prst="roundRect">
            <a:avLst>
              <a:gd name="adj" fmla="val 13636"/>
            </a:avLst>
          </a:prstGeom>
          <a:solidFill>
            <a:schemeClr val="tx2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914400" y="49834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BASE ECONÔMICA VALIDADA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3749040" y="498348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 operação atual combina IPCA + 15% ao ano, contratos de longo prazo e inadimplência histórica de 0%.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JORNADA DO INVESTIMENTO VIA TRUSTT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 SCP conecta o investidor aos projetos ZeroInvest</a:t>
            </a:r>
            <a:endParaRPr lang="en-US" sz="2800" dirty="0"/>
          </a:p>
        </p:txBody>
      </p:sp>
      <p:sp>
        <p:nvSpPr>
          <p:cNvPr id="5" name="icon-circle-FaUserCheck"/>
          <p:cNvSpPr/>
          <p:nvPr/>
        </p:nvSpPr>
        <p:spPr>
          <a:xfrm>
            <a:off x="1097280" y="2057400"/>
            <a:ext cx="1280160" cy="12801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FaUser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377440"/>
            <a:ext cx="640080" cy="640080"/>
          </a:xfrm>
          <a:prstGeom prst="rect">
            <a:avLst/>
          </a:prstGeom>
        </p:spPr>
      </p:pic>
      <p:sp>
        <p:nvSpPr>
          <p:cNvPr id="7" name="step-num-0"/>
          <p:cNvSpPr/>
          <p:nvPr/>
        </p:nvSpPr>
        <p:spPr>
          <a:xfrm>
            <a:off x="2011680" y="2011680"/>
            <a:ext cx="457200" cy="457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0116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Investidor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3931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4F70"/>
                </a:solidFill>
              </a:rPr>
              <a:t>Adere à SCP pela Trustt</a:t>
            </a:r>
            <a:endParaRPr lang="en-US" sz="1500" dirty="0"/>
          </a:p>
        </p:txBody>
      </p:sp>
      <p:sp>
        <p:nvSpPr>
          <p:cNvPr id="11" name="arrow-0"/>
          <p:cNvSpPr/>
          <p:nvPr/>
        </p:nvSpPr>
        <p:spPr>
          <a:xfrm>
            <a:off x="3053029" y="2560320"/>
            <a:ext cx="274320" cy="27432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2" name="icon-circle-FaFileSignature"/>
          <p:cNvSpPr/>
          <p:nvPr/>
        </p:nvSpPr>
        <p:spPr>
          <a:xfrm>
            <a:off x="4002938" y="2057400"/>
            <a:ext cx="1280160" cy="12801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FaFileSignatu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978" y="2377440"/>
            <a:ext cx="640080" cy="640080"/>
          </a:xfrm>
          <a:prstGeom prst="rect">
            <a:avLst/>
          </a:prstGeom>
        </p:spPr>
      </p:pic>
      <p:sp>
        <p:nvSpPr>
          <p:cNvPr id="14" name="step-num-1"/>
          <p:cNvSpPr/>
          <p:nvPr/>
        </p:nvSpPr>
        <p:spPr>
          <a:xfrm>
            <a:off x="4917338" y="2011680"/>
            <a:ext cx="457200" cy="457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91733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02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3454298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SCP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3454298" y="3931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4F70"/>
                </a:solidFill>
              </a:rPr>
              <a:t>Recebe o aporte contratado</a:t>
            </a:r>
            <a:endParaRPr lang="en-US" sz="1500" dirty="0"/>
          </a:p>
        </p:txBody>
      </p:sp>
      <p:sp>
        <p:nvSpPr>
          <p:cNvPr id="18" name="arrow-1"/>
          <p:cNvSpPr/>
          <p:nvPr/>
        </p:nvSpPr>
        <p:spPr>
          <a:xfrm>
            <a:off x="5958688" y="2560320"/>
            <a:ext cx="274320" cy="27432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9" name="icon-circle-FaSolarPanel"/>
          <p:cNvSpPr/>
          <p:nvPr/>
        </p:nvSpPr>
        <p:spPr>
          <a:xfrm>
            <a:off x="6908597" y="2057400"/>
            <a:ext cx="1280160" cy="12801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mage 2" descr="FaSolarPan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637" y="2377440"/>
            <a:ext cx="640080" cy="640080"/>
          </a:xfrm>
          <a:prstGeom prst="rect">
            <a:avLst/>
          </a:prstGeom>
        </p:spPr>
      </p:pic>
      <p:sp>
        <p:nvSpPr>
          <p:cNvPr id="21" name="step-num-2"/>
          <p:cNvSpPr/>
          <p:nvPr/>
        </p:nvSpPr>
        <p:spPr>
          <a:xfrm>
            <a:off x="7822997" y="2011680"/>
            <a:ext cx="457200" cy="457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22997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03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6359957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solar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6359957" y="3931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4F70"/>
                </a:solidFill>
              </a:rPr>
              <a:t>Financia a usina no condomínio</a:t>
            </a:r>
            <a:endParaRPr lang="en-US" sz="1500" dirty="0"/>
          </a:p>
        </p:txBody>
      </p:sp>
      <p:sp>
        <p:nvSpPr>
          <p:cNvPr id="25" name="arrow-2"/>
          <p:cNvSpPr/>
          <p:nvPr/>
        </p:nvSpPr>
        <p:spPr>
          <a:xfrm>
            <a:off x="8864346" y="2560320"/>
            <a:ext cx="274320" cy="27432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26" name="icon-circle-FaHandHoldingUsd"/>
          <p:cNvSpPr/>
          <p:nvPr/>
        </p:nvSpPr>
        <p:spPr>
          <a:xfrm>
            <a:off x="9814255" y="2057400"/>
            <a:ext cx="1280160" cy="12801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7" name="Image 3" descr="FaHandHoldingUs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2377440"/>
            <a:ext cx="640080" cy="640080"/>
          </a:xfrm>
          <a:prstGeom prst="rect">
            <a:avLst/>
          </a:prstGeom>
        </p:spPr>
      </p:pic>
      <p:sp>
        <p:nvSpPr>
          <p:cNvPr id="28" name="step-num-3"/>
          <p:cNvSpPr/>
          <p:nvPr/>
        </p:nvSpPr>
        <p:spPr>
          <a:xfrm>
            <a:off x="10728655" y="2011680"/>
            <a:ext cx="457200" cy="457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10728655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04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9265615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2000" dirty="0"/>
          </a:p>
        </p:txBody>
      </p:sp>
      <p:sp>
        <p:nvSpPr>
          <p:cNvPr id="31" name="Text 24"/>
          <p:cNvSpPr txBox="1"/>
          <p:nvPr/>
        </p:nvSpPr>
        <p:spPr>
          <a:xfrm>
            <a:off x="9265615" y="3931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4F70"/>
                </a:solidFill>
              </a:rPr>
              <a:t>Fluxo econômico retorna à SCP</a:t>
            </a:r>
            <a:endParaRPr lang="en-US" sz="1500" dirty="0"/>
          </a:p>
        </p:txBody>
      </p:sp>
      <p:sp>
        <p:nvSpPr>
          <p:cNvPr id="32" name="trustt-pill"/>
          <p:cNvSpPr/>
          <p:nvPr/>
        </p:nvSpPr>
        <p:spPr>
          <a:xfrm>
            <a:off x="548640" y="4800600"/>
            <a:ext cx="11094415" cy="1051560"/>
          </a:xfrm>
          <a:prstGeom prst="roundRect">
            <a:avLst>
              <a:gd name="adj" fmla="val 13043"/>
            </a:avLst>
          </a:prstGeom>
          <a:solidFill>
            <a:schemeClr val="accent6"/>
          </a:solidFill>
          <a:ln/>
        </p:spPr>
      </p:sp>
      <p:sp>
        <p:nvSpPr>
          <p:cNvPr id="33" name="icon-circle-FaLaptop"/>
          <p:cNvSpPr/>
          <p:nvPr/>
        </p:nvSpPr>
        <p:spPr>
          <a:xfrm>
            <a:off x="868680" y="4983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Image 4" descr="FaLapto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130" y="5154930"/>
            <a:ext cx="342900" cy="3429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783080" y="480060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TRUSTT   </a:t>
            </a:r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Organiza adesão, documentos e registros da participação em ambiente digital privado.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PROTEÇÕES DA CARTEIRA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 crédito combina contraparte formal, ativo e contrato</a:t>
            </a:r>
            <a:endParaRPr lang="en-US" sz="2800" dirty="0"/>
          </a:p>
        </p:txBody>
      </p:sp>
      <p:sp>
        <p:nvSpPr>
          <p:cNvPr id="5" name="zero-panel"/>
          <p:cNvSpPr/>
          <p:nvPr/>
        </p:nvSpPr>
        <p:spPr>
          <a:xfrm>
            <a:off x="548640" y="1920240"/>
            <a:ext cx="3840480" cy="4023360"/>
          </a:xfrm>
          <a:prstGeom prst="roundRect">
            <a:avLst>
              <a:gd name="adj" fmla="val 3571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0120" y="22402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inadimplência até aqui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43434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FAEE0"/>
                </a:solidFill>
              </a:rPr>
              <a:t>Histórico é evidência operacional — não promessa de performance futura.</a:t>
            </a:r>
            <a:endParaRPr lang="en-US" sz="1400" dirty="0"/>
          </a:p>
        </p:txBody>
      </p:sp>
      <p:sp>
        <p:nvSpPr>
          <p:cNvPr id="9" name="prot-card-0"/>
          <p:cNvSpPr/>
          <p:nvPr/>
        </p:nvSpPr>
        <p:spPr>
          <a:xfrm>
            <a:off x="4663440" y="1920240"/>
            <a:ext cx="3352648" cy="187452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10" name="icon-circle-FaBuilding"/>
          <p:cNvSpPr/>
          <p:nvPr/>
        </p:nvSpPr>
        <p:spPr>
          <a:xfrm>
            <a:off x="4937760" y="219456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0" descr="FaBuil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6350" y="234315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15000" y="2194560"/>
            <a:ext cx="2072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CONTRAPARTE FORMAL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2926080"/>
            <a:ext cx="2804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4F70"/>
                </a:solidFill>
              </a:rPr>
              <a:t>Contrato com CNPJ e aprovação em assembleia.</a:t>
            </a:r>
            <a:endParaRPr lang="en-US" sz="1500" dirty="0"/>
          </a:p>
        </p:txBody>
      </p:sp>
      <p:sp>
        <p:nvSpPr>
          <p:cNvPr id="14" name="prot-card-1"/>
          <p:cNvSpPr/>
          <p:nvPr/>
        </p:nvSpPr>
        <p:spPr>
          <a:xfrm>
            <a:off x="8290408" y="1920240"/>
            <a:ext cx="3352648" cy="187452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15" name="icon-circle-FaSolarPanel"/>
          <p:cNvSpPr/>
          <p:nvPr/>
        </p:nvSpPr>
        <p:spPr>
          <a:xfrm>
            <a:off x="8564728" y="21945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1" descr="FaSolarPan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3318" y="234315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341968" y="2194560"/>
            <a:ext cx="2072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ATIVO FÍSICO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564728" y="2926080"/>
            <a:ext cx="2804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4F70"/>
                </a:solidFill>
              </a:rPr>
              <a:t>Equipamento identificável, segurável e retomável.</a:t>
            </a:r>
            <a:endParaRPr lang="en-US" sz="1500" dirty="0"/>
          </a:p>
        </p:txBody>
      </p:sp>
      <p:sp>
        <p:nvSpPr>
          <p:cNvPr id="19" name="prot-card-2"/>
          <p:cNvSpPr/>
          <p:nvPr/>
        </p:nvSpPr>
        <p:spPr>
          <a:xfrm>
            <a:off x="4663440" y="4069080"/>
            <a:ext cx="3352648" cy="187452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20" name="icon-circle-FaLock"/>
          <p:cNvSpPr/>
          <p:nvPr/>
        </p:nvSpPr>
        <p:spPr>
          <a:xfrm>
            <a:off x="4937760" y="43434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2" descr="Fa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350" y="449199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715000" y="4343400"/>
            <a:ext cx="2072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FLUXO CONTROLADO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937760" y="5074920"/>
            <a:ext cx="2804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4F70"/>
                </a:solidFill>
              </a:rPr>
              <a:t>Cessão, conta vinculada e cash sweep podem reforçar o controle.</a:t>
            </a:r>
            <a:endParaRPr lang="en-US" sz="1500" dirty="0"/>
          </a:p>
        </p:txBody>
      </p:sp>
      <p:sp>
        <p:nvSpPr>
          <p:cNvPr id="24" name="prot-card-3"/>
          <p:cNvSpPr/>
          <p:nvPr/>
        </p:nvSpPr>
        <p:spPr>
          <a:xfrm>
            <a:off x="8290408" y="4069080"/>
            <a:ext cx="3352648" cy="187452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25" name="icon-circle-FaTools"/>
          <p:cNvSpPr/>
          <p:nvPr/>
        </p:nvSpPr>
        <p:spPr>
          <a:xfrm>
            <a:off x="8564728" y="434340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6" name="Image 3" descr="FaTool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3318" y="4491990"/>
            <a:ext cx="297180" cy="2971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341968" y="4343400"/>
            <a:ext cx="2072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OPERAÇÃO LOCAL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8564728" y="5074920"/>
            <a:ext cx="2804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4F70"/>
                </a:solidFill>
              </a:rPr>
              <a:t>Monitoramento, manutenção e presença em campo.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ARQUITETURA CLARA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Gorila Energy abre o mercado. ESP entrega a operação.</a:t>
            </a:r>
            <a:endParaRPr lang="en-US" sz="2800" dirty="0"/>
          </a:p>
        </p:txBody>
      </p:sp>
      <p:sp>
        <p:nvSpPr>
          <p:cNvPr id="5" name="arch-MARCA E RELACIONAMENTO"/>
          <p:cNvSpPr/>
          <p:nvPr/>
        </p:nvSpPr>
        <p:spPr>
          <a:xfrm>
            <a:off x="548640" y="1920240"/>
            <a:ext cx="5239512" cy="34290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52400" dist="38100" dir="5400000">
              <a:srgbClr val="2A0F52">
                <a:alpha val="12000"/>
              </a:srgbClr>
            </a:outerShdw>
          </a:effectLst>
        </p:spPr>
      </p:sp>
      <p:pic>
        <p:nvPicPr>
          <p:cNvPr id="6" name="Image 0" descr="Gorila Energ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94560"/>
            <a:ext cx="1463040" cy="64337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2971800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1"/>
                </a:solidFill>
              </a:rPr>
              <a:t>MARCA E RELACIONAMENTO</a:t>
            </a:r>
            <a:endParaRPr lang="en-US" sz="1300" dirty="0"/>
          </a:p>
        </p:txBody>
      </p:sp>
      <p:pic>
        <p:nvPicPr>
          <p:cNvPr id="8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529584"/>
            <a:ext cx="237744" cy="23774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25880" y="3474720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Canais comerciais</a:t>
            </a:r>
            <a:endParaRPr lang="en-US" sz="1600" dirty="0"/>
          </a:p>
        </p:txBody>
      </p:sp>
      <p:pic>
        <p:nvPicPr>
          <p:cNvPr id="10" name="Image 2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968496"/>
            <a:ext cx="237744" cy="237744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325880" y="3913632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Condomínios e administradoras</a:t>
            </a:r>
            <a:endParaRPr lang="en-US" sz="1600" dirty="0"/>
          </a:p>
        </p:txBody>
      </p:sp>
      <p:pic>
        <p:nvPicPr>
          <p:cNvPr id="12" name="Image 3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407408"/>
            <a:ext cx="237744" cy="237744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325880" y="4352544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Proposta de valor</a:t>
            </a:r>
            <a:endParaRPr lang="en-US" sz="1600" dirty="0"/>
          </a:p>
        </p:txBody>
      </p:sp>
      <p:pic>
        <p:nvPicPr>
          <p:cNvPr id="14" name="Image 4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846320"/>
            <a:ext cx="237744" cy="237744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1325880" y="4791456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Confiança de mercado</a:t>
            </a:r>
            <a:endParaRPr lang="en-US" sz="1600" dirty="0"/>
          </a:p>
        </p:txBody>
      </p:sp>
      <p:sp>
        <p:nvSpPr>
          <p:cNvPr id="16" name="arch-ESTRUTURAÇÃO E OPERAÇÃO"/>
          <p:cNvSpPr/>
          <p:nvPr/>
        </p:nvSpPr>
        <p:spPr>
          <a:xfrm>
            <a:off x="6400800" y="1920240"/>
            <a:ext cx="5239512" cy="3429000"/>
          </a:xfrm>
          <a:prstGeom prst="roundRect">
            <a:avLst>
              <a:gd name="adj" fmla="val 4000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52400" dist="38100" dir="5400000">
              <a:srgbClr val="2A0F52">
                <a:alpha val="12000"/>
              </a:srgbClr>
            </a:outerShdw>
          </a:effectLst>
        </p:spPr>
      </p:sp>
      <p:sp>
        <p:nvSpPr>
          <p:cNvPr id="17" name="Text 9"/>
          <p:cNvSpPr txBox="1"/>
          <p:nvPr/>
        </p:nvSpPr>
        <p:spPr>
          <a:xfrm>
            <a:off x="6812280" y="2194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</a:t>
            </a:r>
            <a:endParaRPr lang="en-US" sz="2600" dirty="0"/>
          </a:p>
        </p:txBody>
      </p:sp>
      <p:sp>
        <p:nvSpPr>
          <p:cNvPr id="18" name="Text 10"/>
          <p:cNvSpPr txBox="1"/>
          <p:nvPr/>
        </p:nvSpPr>
        <p:spPr>
          <a:xfrm>
            <a:off x="6812280" y="2971800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1"/>
                </a:solidFill>
              </a:rPr>
              <a:t>ESTRUTURAÇÃO E OPERAÇÃO</a:t>
            </a:r>
            <a:endParaRPr lang="en-US" sz="1300" dirty="0"/>
          </a:p>
        </p:txBody>
      </p:sp>
      <p:pic>
        <p:nvPicPr>
          <p:cNvPr id="19" name="Image 5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3529584"/>
            <a:ext cx="237744" cy="237744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7178040" y="3474720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Engenharia e implantação</a:t>
            </a:r>
            <a:endParaRPr lang="en-US" sz="1600" dirty="0"/>
          </a:p>
        </p:txBody>
      </p:sp>
      <p:pic>
        <p:nvPicPr>
          <p:cNvPr id="21" name="Image 6" descr="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0" y="3968496"/>
            <a:ext cx="237744" cy="237744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7178040" y="3913632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Contratos e recebíveis</a:t>
            </a:r>
            <a:endParaRPr lang="en-US" sz="1600" dirty="0"/>
          </a:p>
        </p:txBody>
      </p:sp>
      <p:pic>
        <p:nvPicPr>
          <p:cNvPr id="23" name="Image 7" descr="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2280" y="4407408"/>
            <a:ext cx="237744" cy="237744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7178040" y="4352544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Monitoramento e manutenção</a:t>
            </a:r>
            <a:endParaRPr lang="en-US" sz="1600" dirty="0"/>
          </a:p>
        </p:txBody>
      </p:sp>
      <p:pic>
        <p:nvPicPr>
          <p:cNvPr id="25" name="Image 8" descr="check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2280" y="4846320"/>
            <a:ext cx="237744" cy="237744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7178040" y="4791456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Gestão financeira do ativo</a:t>
            </a:r>
            <a:endParaRPr lang="en-US" sz="1600" dirty="0"/>
          </a:p>
        </p:txBody>
      </p:sp>
      <p:sp>
        <p:nvSpPr>
          <p:cNvPr id="27" name="plus"/>
          <p:cNvSpPr/>
          <p:nvPr/>
        </p:nvSpPr>
        <p:spPr>
          <a:xfrm>
            <a:off x="5728716" y="3268980"/>
            <a:ext cx="731520" cy="73152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8" name="Text 16"/>
          <p:cNvSpPr txBox="1"/>
          <p:nvPr/>
        </p:nvSpPr>
        <p:spPr>
          <a:xfrm>
            <a:off x="5728716" y="32689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+</a:t>
            </a:r>
            <a:endParaRPr lang="en-US" sz="2800" dirty="0"/>
          </a:p>
        </p:txBody>
      </p:sp>
      <p:sp>
        <p:nvSpPr>
          <p:cNvPr id="29" name="Text 17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tx2"/>
                </a:solidFill>
              </a:rPr>
              <a:t>Uma frente comercial forte, apoiada por uma operação especializada.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RETORNO E CAPACIDADE DE ALOCAÇÃO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IPCA + 15% ao ano é a remuneração praticada atualmente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CCF0"/>
                </a:solidFill>
              </a:rPr>
              <a:t>A rentabilidade vem acompanhada de uma esteira mensal de novos projetos e recebíveis.</a:t>
            </a:r>
            <a:endParaRPr lang="en-US" sz="1600" dirty="0"/>
          </a:p>
        </p:txBody>
      </p:sp>
      <p:sp>
        <p:nvSpPr>
          <p:cNvPr id="6" name="big-card-0"/>
          <p:cNvSpPr/>
          <p:nvPr/>
        </p:nvSpPr>
        <p:spPr>
          <a:xfrm>
            <a:off x="548640" y="2103120"/>
            <a:ext cx="5394960" cy="3200400"/>
          </a:xfrm>
          <a:prstGeom prst="roundRect">
            <a:avLst>
              <a:gd name="adj" fmla="val 4286"/>
            </a:avLst>
          </a:prstGeom>
          <a:solidFill>
            <a:schemeClr val="accent4"/>
          </a:solidFill>
          <a:ln/>
        </p:spPr>
      </p:sp>
      <p:sp>
        <p:nvSpPr>
          <p:cNvPr id="7" name="icon-circle-FaChartLine"/>
          <p:cNvSpPr/>
          <p:nvPr/>
        </p:nvSpPr>
        <p:spPr>
          <a:xfrm>
            <a:off x="960120" y="24231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0" descr="FaChart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570" y="2594610"/>
            <a:ext cx="342900" cy="342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28800" y="24231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AO ANO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960120" y="32461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IPCA + 15%</a:t>
            </a:r>
            <a:endParaRPr lang="en-US" sz="6000" dirty="0"/>
          </a:p>
        </p:txBody>
      </p:sp>
      <p:sp>
        <p:nvSpPr>
          <p:cNvPr id="11" name="Text 7"/>
          <p:cNvSpPr txBox="1"/>
          <p:nvPr/>
        </p:nvSpPr>
        <p:spPr>
          <a:xfrm>
            <a:off x="960120" y="4343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CCF0"/>
                </a:solidFill>
              </a:rPr>
              <a:t>Remuneração paga atualmente ao capital investido nos projetos.</a:t>
            </a:r>
            <a:endParaRPr lang="en-US" sz="1600" dirty="0"/>
          </a:p>
        </p:txBody>
      </p:sp>
      <p:sp>
        <p:nvSpPr>
          <p:cNvPr id="12" name="big-card-1"/>
          <p:cNvSpPr/>
          <p:nvPr/>
        </p:nvSpPr>
        <p:spPr>
          <a:xfrm>
            <a:off x="6217920" y="2103120"/>
            <a:ext cx="5394960" cy="3200400"/>
          </a:xfrm>
          <a:prstGeom prst="roundRect">
            <a:avLst>
              <a:gd name="adj" fmla="val 4286"/>
            </a:avLst>
          </a:prstGeom>
          <a:solidFill>
            <a:schemeClr val="accent4"/>
          </a:solidFill>
          <a:ln/>
        </p:spPr>
      </p:sp>
      <p:sp>
        <p:nvSpPr>
          <p:cNvPr id="13" name="icon-circle-FaBolt"/>
          <p:cNvSpPr/>
          <p:nvPr/>
        </p:nvSpPr>
        <p:spPr>
          <a:xfrm>
            <a:off x="6629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1" descr="FaBo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2594610"/>
            <a:ext cx="342900" cy="3429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498080" y="24231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POR MÊS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6629400" y="32461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 mi</a:t>
            </a:r>
            <a:endParaRPr lang="en-US" sz="6000" dirty="0"/>
          </a:p>
        </p:txBody>
      </p:sp>
      <p:sp>
        <p:nvSpPr>
          <p:cNvPr id="17" name="Text 12"/>
          <p:cNvSpPr txBox="1"/>
          <p:nvPr/>
        </p:nvSpPr>
        <p:spPr>
          <a:xfrm>
            <a:off x="6629400" y="4343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CCF0"/>
                </a:solidFill>
              </a:rPr>
              <a:t>Capacidade equivalente a ≈ 5 projetos por mês (≈ 60 por ano) no ticket médio atual.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AEE0"/>
                </a:solidFill>
              </a:rPr>
              <a:t>A taxa final e as condições dependem da estrutura escolhida e da análise do investidor.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PAPEL DA TRUSTT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Trustt: gestão digital da participação na SCP</a:t>
            </a:r>
            <a:endParaRPr lang="en-US" sz="2800" dirty="0"/>
          </a:p>
        </p:txBody>
      </p:sp>
      <p:sp>
        <p:nvSpPr>
          <p:cNvPr id="5" name="car-card-0"/>
          <p:cNvSpPr/>
          <p:nvPr/>
        </p:nvSpPr>
        <p:spPr>
          <a:xfrm>
            <a:off x="548640" y="1920240"/>
            <a:ext cx="3515258" cy="2926080"/>
          </a:xfrm>
          <a:prstGeom prst="roundRect">
            <a:avLst>
              <a:gd name="adj" fmla="val 4688"/>
            </a:avLst>
          </a:prstGeom>
          <a:solidFill>
            <a:schemeClr val="bg2"/>
          </a:solidFill>
          <a:ln/>
        </p:spPr>
      </p:sp>
      <p:sp>
        <p:nvSpPr>
          <p:cNvPr id="6" name="icon-circle-FaFileSignature"/>
          <p:cNvSpPr/>
          <p:nvPr/>
        </p:nvSpPr>
        <p:spPr>
          <a:xfrm>
            <a:off x="914400" y="224028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FaFileSigna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446020"/>
            <a:ext cx="411480" cy="4114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875178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D9C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33756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chemeClr val="tx2"/>
                </a:solidFill>
              </a:rPr>
              <a:t>ADESÃO E CONTRATOS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94760"/>
            <a:ext cx="2783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4F70"/>
                </a:solidFill>
              </a:rPr>
              <a:t>Cadastro dos participantes, termos da SCP e assinaturas eletrônicas centralizados.</a:t>
            </a:r>
            <a:endParaRPr lang="en-US" sz="1600" dirty="0"/>
          </a:p>
        </p:txBody>
      </p:sp>
      <p:sp>
        <p:nvSpPr>
          <p:cNvPr id="11" name="car-card-1"/>
          <p:cNvSpPr/>
          <p:nvPr/>
        </p:nvSpPr>
        <p:spPr>
          <a:xfrm>
            <a:off x="4338218" y="1920240"/>
            <a:ext cx="3515258" cy="2926080"/>
          </a:xfrm>
          <a:prstGeom prst="roundRect">
            <a:avLst>
              <a:gd name="adj" fmla="val 4688"/>
            </a:avLst>
          </a:prstGeom>
          <a:solidFill>
            <a:schemeClr val="bg2"/>
          </a:solidFill>
          <a:ln/>
        </p:spPr>
      </p:sp>
      <p:sp>
        <p:nvSpPr>
          <p:cNvPr id="12" name="icon-circle-FaClipboardList"/>
          <p:cNvSpPr/>
          <p:nvPr/>
        </p:nvSpPr>
        <p:spPr>
          <a:xfrm>
            <a:off x="4703978" y="22402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FaClipboardL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718" y="24460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664757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D9C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0"/>
          <p:cNvSpPr txBox="1"/>
          <p:nvPr/>
        </p:nvSpPr>
        <p:spPr>
          <a:xfrm>
            <a:off x="4703978" y="333756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chemeClr val="tx2"/>
                </a:solidFill>
              </a:rPr>
              <a:t>REGISTROS E GOVERNANÇA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4703978" y="3794760"/>
            <a:ext cx="2783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4F70"/>
                </a:solidFill>
              </a:rPr>
              <a:t>Cap table, aprovações e histórico da participação organizados e rastreáveis.</a:t>
            </a:r>
            <a:endParaRPr lang="en-US" sz="1600" dirty="0"/>
          </a:p>
        </p:txBody>
      </p:sp>
      <p:sp>
        <p:nvSpPr>
          <p:cNvPr id="17" name="car-card-2"/>
          <p:cNvSpPr/>
          <p:nvPr/>
        </p:nvSpPr>
        <p:spPr>
          <a:xfrm>
            <a:off x="8127797" y="1920240"/>
            <a:ext cx="3515258" cy="2926080"/>
          </a:xfrm>
          <a:prstGeom prst="roundRect">
            <a:avLst>
              <a:gd name="adj" fmla="val 4688"/>
            </a:avLst>
          </a:prstGeom>
          <a:solidFill>
            <a:schemeClr val="bg2"/>
          </a:solidFill>
          <a:ln/>
        </p:spPr>
      </p:sp>
      <p:sp>
        <p:nvSpPr>
          <p:cNvPr id="18" name="icon-circle-FaChartBar"/>
          <p:cNvSpPr/>
          <p:nvPr/>
        </p:nvSpPr>
        <p:spPr>
          <a:xfrm>
            <a:off x="8493557" y="224028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Image 2" descr="FaChartB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297" y="244602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454335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D9C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21" name="Text 15"/>
          <p:cNvSpPr txBox="1"/>
          <p:nvPr/>
        </p:nvSpPr>
        <p:spPr>
          <a:xfrm>
            <a:off x="8493557" y="333756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chemeClr val="tx2"/>
                </a:solidFill>
              </a:rPr>
              <a:t>ACOMPANHAMENTO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8493557" y="3794760"/>
            <a:ext cx="2783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4F70"/>
                </a:solidFill>
              </a:rPr>
              <a:t>Documentos, relatórios e registros de aportes e repasses em ambiente privado.</a:t>
            </a:r>
            <a:endParaRPr lang="en-US" sz="1600" dirty="0"/>
          </a:p>
        </p:txBody>
      </p:sp>
      <p:sp>
        <p:nvSpPr>
          <p:cNvPr id="23" name="note"/>
          <p:cNvSpPr/>
          <p:nvPr/>
        </p:nvSpPr>
        <p:spPr>
          <a:xfrm>
            <a:off x="548640" y="5166360"/>
            <a:ext cx="11094415" cy="82296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24" name="icon-circle-FaLaptop"/>
          <p:cNvSpPr/>
          <p:nvPr/>
        </p:nvSpPr>
        <p:spPr>
          <a:xfrm>
            <a:off x="822960" y="5303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mage 3" descr="FaLapto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44068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00200" y="51663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 Trustt digitaliza a gestão societária. A execução dos projetos permanece com a operação ZeroInvest.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CAPILARIDADE PARA ESCALAR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A experiência dos sócios sustenta uma operação de alcance nacional</a:t>
            </a:r>
            <a:endParaRPr lang="en-US" sz="2800" dirty="0"/>
          </a:p>
        </p:txBody>
      </p:sp>
      <p:pic>
        <p:nvPicPr>
          <p:cNvPr id="5" name="Image 0" descr="map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2011680"/>
            <a:ext cx="2377440" cy="23774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1488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BRASIL</a:t>
            </a:r>
            <a:endParaRPr lang="en-US" sz="7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429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CCF0"/>
                </a:solidFill>
              </a:rPr>
              <a:t>Capacidade de mobilizar instalação, homologação e operação em qualquer região.</a:t>
            </a:r>
            <a:endParaRPr lang="en-US" sz="1800" dirty="0"/>
          </a:p>
        </p:txBody>
      </p:sp>
      <p:sp>
        <p:nvSpPr>
          <p:cNvPr id="8" name="std-pill"/>
          <p:cNvSpPr/>
          <p:nvPr/>
        </p:nvSpPr>
        <p:spPr>
          <a:xfrm>
            <a:off x="548640" y="4754880"/>
            <a:ext cx="4754880" cy="109728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68680" y="4754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Um padrão único de execução — do diagnóstico ao O&amp;M.</a:t>
            </a:r>
            <a:endParaRPr lang="en-US" sz="1800" dirty="0"/>
          </a:p>
        </p:txBody>
      </p:sp>
      <p:sp>
        <p:nvSpPr>
          <p:cNvPr id="10" name="row-0"/>
          <p:cNvSpPr/>
          <p:nvPr/>
        </p:nvSpPr>
        <p:spPr>
          <a:xfrm>
            <a:off x="5852160" y="1965960"/>
            <a:ext cx="5790895" cy="1143000"/>
          </a:xfrm>
          <a:prstGeom prst="roundRect">
            <a:avLst>
              <a:gd name="adj" fmla="val 9600"/>
            </a:avLst>
          </a:prstGeom>
          <a:solidFill>
            <a:schemeClr val="accent4"/>
          </a:solidFill>
          <a:ln/>
        </p:spPr>
      </p:sp>
      <p:sp>
        <p:nvSpPr>
          <p:cNvPr id="11" name="icon-circle-FaNetworkWired"/>
          <p:cNvSpPr/>
          <p:nvPr/>
        </p:nvSpPr>
        <p:spPr>
          <a:xfrm>
            <a:off x="6126480" y="21945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1" descr="FaNetworkWir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930" y="2366010"/>
            <a:ext cx="342900" cy="3429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40880" y="21214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2"/>
                </a:solidFill>
              </a:rPr>
              <a:t>OPERAÇÕES DE CAMPO EM ESCALA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7040880" y="24414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Ricardo liderou redes, infraestrutura e equipes distribuídas nacionalmente.</a:t>
            </a:r>
            <a:endParaRPr lang="en-US" sz="1500" dirty="0"/>
          </a:p>
        </p:txBody>
      </p:sp>
      <p:sp>
        <p:nvSpPr>
          <p:cNvPr id="15" name="row-1"/>
          <p:cNvSpPr/>
          <p:nvPr/>
        </p:nvSpPr>
        <p:spPr>
          <a:xfrm>
            <a:off x="5852160" y="3291840"/>
            <a:ext cx="5790895" cy="1143000"/>
          </a:xfrm>
          <a:prstGeom prst="roundRect">
            <a:avLst>
              <a:gd name="adj" fmla="val 9600"/>
            </a:avLst>
          </a:prstGeom>
          <a:solidFill>
            <a:schemeClr val="accent4"/>
          </a:solidFill>
          <a:ln/>
        </p:spPr>
      </p:sp>
      <p:sp>
        <p:nvSpPr>
          <p:cNvPr id="16" name="icon-circle-FaCogs"/>
          <p:cNvSpPr/>
          <p:nvPr/>
        </p:nvSpPr>
        <p:spPr>
          <a:xfrm>
            <a:off x="6126480" y="35204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FaCo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930" y="3691890"/>
            <a:ext cx="342900" cy="3429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40880" y="34472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ENGENHARIA E SISTEMAS CRÍTICOS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7040880" y="37673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Sérgio traz experiência executiva em ambientes Oi e GVT.</a:t>
            </a:r>
            <a:endParaRPr lang="en-US" sz="1500" dirty="0"/>
          </a:p>
        </p:txBody>
      </p:sp>
      <p:sp>
        <p:nvSpPr>
          <p:cNvPr id="20" name="row-2"/>
          <p:cNvSpPr/>
          <p:nvPr/>
        </p:nvSpPr>
        <p:spPr>
          <a:xfrm>
            <a:off x="5852160" y="4617720"/>
            <a:ext cx="5790895" cy="1143000"/>
          </a:xfrm>
          <a:prstGeom prst="roundRect">
            <a:avLst>
              <a:gd name="adj" fmla="val 9600"/>
            </a:avLst>
          </a:prstGeom>
          <a:solidFill>
            <a:schemeClr val="accent4"/>
          </a:solidFill>
          <a:ln/>
        </p:spPr>
      </p:sp>
      <p:sp>
        <p:nvSpPr>
          <p:cNvPr id="21" name="icon-circle-FaHandshake"/>
          <p:cNvSpPr/>
          <p:nvPr/>
        </p:nvSpPr>
        <p:spPr>
          <a:xfrm>
            <a:off x="6126480" y="484632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Image 3" descr="FaHandshak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930" y="5017770"/>
            <a:ext cx="342900" cy="3429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040880" y="4773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A8F5"/>
                </a:solidFill>
              </a:rPr>
              <a:t>CANAL COMERCIAL DE ESCALA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7040880" y="50932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parceria com a Lello conecta a Gorila a uma carteira de 4.500 prédios.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CAPACIDADE DE ORIGINAÇÃO RECORRENTE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Temos como alimentar uma esteira de R$ 1 milhão por mês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4F70"/>
                </a:solidFill>
              </a:rPr>
              <a:t>O pipeline atual dá visibilidade inicial, enquanto a parceria com a Lello amplia continuamente o topo do funil.</a:t>
            </a:r>
            <a:endParaRPr lang="en-US" sz="1600" dirty="0"/>
          </a:p>
        </p:txBody>
      </p:sp>
      <p:sp>
        <p:nvSpPr>
          <p:cNvPr id="6" name="o-stat-0"/>
          <p:cNvSpPr/>
          <p:nvPr/>
        </p:nvSpPr>
        <p:spPr>
          <a:xfrm>
            <a:off x="548640" y="2103120"/>
            <a:ext cx="2606040" cy="1325880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2286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4F70"/>
                </a:solidFill>
              </a:rPr>
              <a:t>condomínios mapeados</a:t>
            </a:r>
            <a:endParaRPr lang="en-US" sz="1400" dirty="0"/>
          </a:p>
        </p:txBody>
      </p:sp>
      <p:sp>
        <p:nvSpPr>
          <p:cNvPr id="9" name="o-stat-1"/>
          <p:cNvSpPr/>
          <p:nvPr/>
        </p:nvSpPr>
        <p:spPr>
          <a:xfrm>
            <a:off x="3337560" y="2103120"/>
            <a:ext cx="2606040" cy="1325880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611880" y="2286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R$ 10,7 mi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361188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4F70"/>
                </a:solidFill>
              </a:rPr>
              <a:t>em projetos no pipeline</a:t>
            </a:r>
            <a:endParaRPr lang="en-US" sz="1400" dirty="0"/>
          </a:p>
        </p:txBody>
      </p:sp>
      <p:sp>
        <p:nvSpPr>
          <p:cNvPr id="12" name="o-stat-2"/>
          <p:cNvSpPr/>
          <p:nvPr/>
        </p:nvSpPr>
        <p:spPr>
          <a:xfrm>
            <a:off x="548640" y="3611880"/>
            <a:ext cx="2606040" cy="1325880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" y="3794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anos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4F70"/>
                </a:solidFill>
              </a:rPr>
              <a:t>de contrato médio</a:t>
            </a:r>
            <a:endParaRPr lang="en-US" sz="1400" dirty="0"/>
          </a:p>
        </p:txBody>
      </p:sp>
      <p:sp>
        <p:nvSpPr>
          <p:cNvPr id="15" name="o-stat-3"/>
          <p:cNvSpPr/>
          <p:nvPr/>
        </p:nvSpPr>
        <p:spPr>
          <a:xfrm>
            <a:off x="3337560" y="3611880"/>
            <a:ext cx="2606040" cy="1325880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611880" y="3794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3611880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4F70"/>
                </a:solidFill>
              </a:rPr>
              <a:t>de economia inicial</a:t>
            </a:r>
            <a:endParaRPr lang="en-US" sz="1400" dirty="0"/>
          </a:p>
        </p:txBody>
      </p:sp>
      <p:sp>
        <p:nvSpPr>
          <p:cNvPr id="18" name="coverage"/>
          <p:cNvSpPr/>
          <p:nvPr/>
        </p:nvSpPr>
        <p:spPr>
          <a:xfrm>
            <a:off x="6400800" y="2103120"/>
            <a:ext cx="5242255" cy="2834640"/>
          </a:xfrm>
          <a:prstGeom prst="roundRect">
            <a:avLst>
              <a:gd name="adj" fmla="val 4839"/>
            </a:avLst>
          </a:prstGeom>
          <a:solidFill>
            <a:schemeClr val="tx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76656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COBERTURA DA ESTEIRA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766560" y="2697480"/>
            <a:ext cx="45107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10+ meses</a:t>
            </a:r>
            <a:endParaRPr lang="en-US" sz="4000" dirty="0"/>
          </a:p>
          <a:p>
            <a:pPr indent="0" marL="0">
              <a:buNone/>
            </a:pPr>
            <a:r>
              <a:rPr lang="en-US" sz="1600" dirty="0">
                <a:solidFill>
                  <a:srgbClr val="D9CCF0"/>
                </a:solidFill>
              </a:rPr>
              <a:t>de alocação a R$ 1 mi/mês já no pipeline atual</a:t>
            </a:r>
            <a:endParaRPr lang="en-US" sz="4000" dirty="0"/>
          </a:p>
        </p:txBody>
      </p:sp>
      <p:sp>
        <p:nvSpPr>
          <p:cNvPr id="21" name="month-0"/>
          <p:cNvSpPr/>
          <p:nvPr/>
        </p:nvSpPr>
        <p:spPr>
          <a:xfrm>
            <a:off x="6766560" y="4069080"/>
            <a:ext cx="385237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/>
        </p:spPr>
      </p:sp>
      <p:sp>
        <p:nvSpPr>
          <p:cNvPr id="22" name="month-1"/>
          <p:cNvSpPr/>
          <p:nvPr/>
        </p:nvSpPr>
        <p:spPr>
          <a:xfrm>
            <a:off x="7224949" y="4069080"/>
            <a:ext cx="385237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/>
        </p:spPr>
      </p:sp>
      <p:sp>
        <p:nvSpPr>
          <p:cNvPr id="23" name="month-2"/>
          <p:cNvSpPr/>
          <p:nvPr/>
        </p:nvSpPr>
        <p:spPr>
          <a:xfrm>
            <a:off x="7683337" y="4069080"/>
            <a:ext cx="385237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/>
        </p:spPr>
      </p:sp>
      <p:sp>
        <p:nvSpPr>
          <p:cNvPr id="24" name="month-3"/>
          <p:cNvSpPr/>
          <p:nvPr/>
        </p:nvSpPr>
        <p:spPr>
          <a:xfrm>
            <a:off x="8141726" y="4069080"/>
            <a:ext cx="385237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/>
        </p:spPr>
      </p:sp>
      <p:sp>
        <p:nvSpPr>
          <p:cNvPr id="25" name="month-4"/>
          <p:cNvSpPr/>
          <p:nvPr/>
        </p:nvSpPr>
        <p:spPr>
          <a:xfrm>
            <a:off x="8600115" y="4069080"/>
            <a:ext cx="385237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/>
        </p:spPr>
      </p:sp>
      <p:sp>
        <p:nvSpPr>
          <p:cNvPr id="26" name="month-5"/>
          <p:cNvSpPr/>
          <p:nvPr/>
        </p:nvSpPr>
        <p:spPr>
          <a:xfrm>
            <a:off x="9058504" y="4069080"/>
            <a:ext cx="385237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/>
        </p:spPr>
      </p:sp>
      <p:sp>
        <p:nvSpPr>
          <p:cNvPr id="27" name="month-6"/>
          <p:cNvSpPr/>
          <p:nvPr/>
        </p:nvSpPr>
        <p:spPr>
          <a:xfrm>
            <a:off x="9516892" y="4069080"/>
            <a:ext cx="385237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/>
        </p:spPr>
      </p:sp>
      <p:sp>
        <p:nvSpPr>
          <p:cNvPr id="28" name="month-7"/>
          <p:cNvSpPr/>
          <p:nvPr/>
        </p:nvSpPr>
        <p:spPr>
          <a:xfrm>
            <a:off x="9975281" y="4069080"/>
            <a:ext cx="385237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/>
        </p:spPr>
      </p:sp>
      <p:sp>
        <p:nvSpPr>
          <p:cNvPr id="29" name="month-8"/>
          <p:cNvSpPr/>
          <p:nvPr/>
        </p:nvSpPr>
        <p:spPr>
          <a:xfrm>
            <a:off x="10433670" y="4069080"/>
            <a:ext cx="385237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/>
        </p:spPr>
      </p:sp>
      <p:sp>
        <p:nvSpPr>
          <p:cNvPr id="30" name="month-9"/>
          <p:cNvSpPr/>
          <p:nvPr/>
        </p:nvSpPr>
        <p:spPr>
          <a:xfrm>
            <a:off x="10892058" y="4069080"/>
            <a:ext cx="385237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766560" y="4480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AEE0"/>
                </a:solidFill>
              </a:rPr>
              <a:t>Mês 1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10362895" y="4480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FAEE0"/>
                </a:solidFill>
              </a:rPr>
              <a:t>Mês 10</a:t>
            </a:r>
            <a:endParaRPr lang="en-US" sz="1100" dirty="0"/>
          </a:p>
        </p:txBody>
      </p:sp>
      <p:sp>
        <p:nvSpPr>
          <p:cNvPr id="33" name="lello"/>
          <p:cNvSpPr/>
          <p:nvPr/>
        </p:nvSpPr>
        <p:spPr>
          <a:xfrm>
            <a:off x="548640" y="5257800"/>
            <a:ext cx="11094415" cy="777240"/>
          </a:xfrm>
          <a:prstGeom prst="roundRect">
            <a:avLst>
              <a:gd name="adj" fmla="val 17647"/>
            </a:avLst>
          </a:prstGeom>
          <a:solidFill>
            <a:schemeClr val="accent6"/>
          </a:solidFill>
          <a:ln/>
        </p:spPr>
      </p:sp>
      <p:sp>
        <p:nvSpPr>
          <p:cNvPr id="34" name="icon-circle-FaHandshake"/>
          <p:cNvSpPr/>
          <p:nvPr/>
        </p:nvSpPr>
        <p:spPr>
          <a:xfrm>
            <a:off x="822960" y="53721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Image 0" descr="FaHandshak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5509260"/>
            <a:ext cx="274320" cy="274320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1600200" y="52578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CANAL DE ACESSO   </a:t>
            </a:r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Lello • carteira de 4.500 prédios para reposição contínua do funil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CENÁRIOS DE PENETRAÇÃO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5% da carteira Lello representa R$ 45 milhões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4F70"/>
                </a:solidFill>
              </a:rPr>
              <a:t>Ticket médio estimado do pipeline atual: R$ 202 mil por condomínio.</a:t>
            </a:r>
            <a:endParaRPr lang="en-US" sz="1600" dirty="0"/>
          </a:p>
        </p:txBody>
      </p:sp>
      <p:graphicFrame>
        <p:nvGraphicFramePr>
          <p:cNvPr id="6" name="Chart 0" descr="Gráfico de colunas: 1% = R$ 9,1 mi; 3% = R$ 27,3 mi; 5% = R$ 45,4 mi"/>
          <p:cNvGraphicFramePr/>
          <p:nvPr/>
        </p:nvGraphicFramePr>
        <p:xfrm>
          <a:off x="548640" y="192024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c-0"/>
          <p:cNvSpPr/>
          <p:nvPr/>
        </p:nvSpPr>
        <p:spPr>
          <a:xfrm>
            <a:off x="7680960" y="1920240"/>
            <a:ext cx="3962095" cy="91440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8" name="sc-dot-0"/>
          <p:cNvSpPr/>
          <p:nvPr/>
        </p:nvSpPr>
        <p:spPr>
          <a:xfrm>
            <a:off x="7863840" y="20574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6384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1%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686800" y="19202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45 prédios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0332720" y="19202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B4F70"/>
                </a:solidFill>
              </a:rPr>
              <a:t>R$ 9,1 mi</a:t>
            </a:r>
            <a:endParaRPr lang="en-US" sz="1500" dirty="0"/>
          </a:p>
        </p:txBody>
      </p:sp>
      <p:sp>
        <p:nvSpPr>
          <p:cNvPr id="12" name="sc-1"/>
          <p:cNvSpPr/>
          <p:nvPr/>
        </p:nvSpPr>
        <p:spPr>
          <a:xfrm>
            <a:off x="7680960" y="3017520"/>
            <a:ext cx="3962095" cy="91440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3" name="sc-dot-1"/>
          <p:cNvSpPr/>
          <p:nvPr/>
        </p:nvSpPr>
        <p:spPr>
          <a:xfrm>
            <a:off x="7863840" y="3154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86384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3%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8686800" y="3017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135 prédios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10332720" y="30175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B4F70"/>
                </a:solidFill>
              </a:rPr>
              <a:t>R$ 27,3 mi</a:t>
            </a:r>
            <a:endParaRPr lang="en-US" sz="1500" dirty="0"/>
          </a:p>
        </p:txBody>
      </p:sp>
      <p:sp>
        <p:nvSpPr>
          <p:cNvPr id="17" name="sc-2"/>
          <p:cNvSpPr/>
          <p:nvPr/>
        </p:nvSpPr>
        <p:spPr>
          <a:xfrm>
            <a:off x="7680960" y="4114800"/>
            <a:ext cx="3962095" cy="91440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8" name="sc-dot-2"/>
          <p:cNvSpPr/>
          <p:nvPr/>
        </p:nvSpPr>
        <p:spPr>
          <a:xfrm>
            <a:off x="7863840" y="42519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86384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5%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8686800" y="4114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225 prédios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10332720" y="41148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B4F70"/>
                </a:solidFill>
              </a:rPr>
              <a:t>R$ 45,4 mi</a:t>
            </a:r>
            <a:endParaRPr lang="en-US" sz="1500" dirty="0"/>
          </a:p>
        </p:txBody>
      </p:sp>
      <p:sp>
        <p:nvSpPr>
          <p:cNvPr id="22" name="calc"/>
          <p:cNvSpPr/>
          <p:nvPr/>
        </p:nvSpPr>
        <p:spPr>
          <a:xfrm>
            <a:off x="7680960" y="5257800"/>
            <a:ext cx="3962095" cy="91440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7909560" y="5349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CENÁRIOS ILUSTRATIVOS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7909560" y="5623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CCF0"/>
                </a:solidFill>
              </a:rPr>
              <a:t>Base de cálculo: 4.500 prédios × cenário de conversão × ticket médio de R$ 202 mil.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PRÓXIMOS PASSOS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6868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formalizar a participação via Trustt?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743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CCF0"/>
                </a:solidFill>
              </a:rPr>
              <a:t>Próximos passos:</a:t>
            </a:r>
            <a:endParaRPr lang="en-US" sz="1600" dirty="0"/>
          </a:p>
        </p:txBody>
      </p:sp>
      <p:sp>
        <p:nvSpPr>
          <p:cNvPr id="6" name="icon-circle-FaFolderOpen"/>
          <p:cNvSpPr/>
          <p:nvPr/>
        </p:nvSpPr>
        <p:spPr>
          <a:xfrm>
            <a:off x="548640" y="32461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FaFolderOp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34061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32461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Acessar documentos e premissas da SCP</a:t>
            </a:r>
            <a:endParaRPr lang="en-US" sz="1800" dirty="0"/>
          </a:p>
        </p:txBody>
      </p:sp>
      <p:sp>
        <p:nvSpPr>
          <p:cNvPr id="9" name="icon-circle-FaFileSignature"/>
          <p:cNvSpPr/>
          <p:nvPr/>
        </p:nvSpPr>
        <p:spPr>
          <a:xfrm>
            <a:off x="548640" y="41148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FaFileSignatu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427482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17320" y="41148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Concluir cadastro e termo de adesão na Trustt</a:t>
            </a:r>
            <a:endParaRPr lang="en-US" sz="1800" dirty="0"/>
          </a:p>
        </p:txBody>
      </p:sp>
      <p:sp>
        <p:nvSpPr>
          <p:cNvPr id="12" name="icon-circle-FaCalendarCheck"/>
          <p:cNvSpPr/>
          <p:nvPr/>
        </p:nvSpPr>
        <p:spPr>
          <a:xfrm>
            <a:off x="548640" y="4983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FaCalendar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514350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17320" y="49834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Realizar o aporte conforme o cronograma contratual</a:t>
            </a:r>
            <a:endParaRPr lang="en-US" sz="1800" dirty="0"/>
          </a:p>
        </p:txBody>
      </p:sp>
      <p:sp>
        <p:nvSpPr>
          <p:cNvPr id="15" name="offer"/>
          <p:cNvSpPr/>
          <p:nvPr/>
        </p:nvSpPr>
        <p:spPr>
          <a:xfrm>
            <a:off x="7955280" y="868680"/>
            <a:ext cx="3687775" cy="5120640"/>
          </a:xfrm>
          <a:prstGeom prst="roundRect">
            <a:avLst>
              <a:gd name="adj" fmla="val 4959"/>
            </a:avLst>
          </a:prstGeom>
          <a:solidFill>
            <a:schemeClr val="accent4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8138160" y="1371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IPCA + 15%</a:t>
            </a:r>
            <a:endParaRPr lang="en-US" sz="4000" dirty="0"/>
          </a:p>
        </p:txBody>
      </p:sp>
      <p:sp>
        <p:nvSpPr>
          <p:cNvPr id="17" name="Text 11"/>
          <p:cNvSpPr txBox="1"/>
          <p:nvPr/>
        </p:nvSpPr>
        <p:spPr>
          <a:xfrm>
            <a:off x="8138160" y="2194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REMUNERAÇÃO ATUAL AO ANO</a:t>
            </a:r>
            <a:endParaRPr lang="en-US" sz="1200" dirty="0"/>
          </a:p>
        </p:txBody>
      </p:sp>
      <p:sp>
        <p:nvSpPr>
          <p:cNvPr id="18" name="div"/>
          <p:cNvSpPr/>
          <p:nvPr/>
        </p:nvSpPr>
        <p:spPr>
          <a:xfrm>
            <a:off x="8686800" y="2880360"/>
            <a:ext cx="2194560" cy="0"/>
          </a:xfrm>
          <a:prstGeom prst="line">
            <a:avLst/>
          </a:prstGeom>
          <a:noFill/>
          <a:ln w="12700">
            <a:solidFill>
              <a:srgbClr val="6B4A9E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8138160" y="31546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 mi/mês</a:t>
            </a:r>
            <a:endParaRPr lang="en-US" sz="3400" dirty="0"/>
          </a:p>
        </p:txBody>
      </p:sp>
      <p:sp>
        <p:nvSpPr>
          <p:cNvPr id="20" name="Text 14"/>
          <p:cNvSpPr txBox="1"/>
          <p:nvPr/>
        </p:nvSpPr>
        <p:spPr>
          <a:xfrm>
            <a:off x="813816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CCF0"/>
                </a:solidFill>
              </a:rPr>
              <a:t>≈ 5 projetos por mês</a:t>
            </a:r>
            <a:endParaRPr lang="en-US" sz="1400" dirty="0"/>
          </a:p>
        </p:txBody>
      </p:sp>
      <p:pic>
        <p:nvPicPr>
          <p:cNvPr id="21" name="Image 3" descr="Gorila Energ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4754880"/>
            <a:ext cx="1188720" cy="522738"/>
          </a:xfrm>
          <a:prstGeom prst="rect">
            <a:avLst/>
          </a:prstGeom>
        </p:spPr>
      </p:pic>
      <p:sp>
        <p:nvSpPr>
          <p:cNvPr id="22" name="Text 1"/>
          <p:cNvSpPr/>
          <p:nvPr>
            <p:ph idx="102" type="title" hasCustomPrompt="1"/>
          </p:nvPr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ero Invest Gorila">
  <a:themeElements>
    <a:clrScheme name="Zero Invest Gorila">
      <a:dk1>
        <a:srgbClr val="1B1030"/>
      </a:dk1>
      <a:lt1>
        <a:srgbClr val="FFFFFF"/>
      </a:lt1>
      <a:dk2>
        <a:srgbClr val="2A0F52"/>
      </a:dk2>
      <a:lt2>
        <a:srgbClr val="F5F2FA"/>
      </a:lt2>
      <a:accent1>
        <a:srgbClr val="E8641B"/>
      </a:accent1>
      <a:accent2>
        <a:srgbClr val="F7B32B"/>
      </a:accent2>
      <a:accent3>
        <a:srgbClr val="7B3FC4"/>
      </a:accent3>
      <a:accent4>
        <a:srgbClr val="3D1A6E"/>
      </a:accent4>
      <a:accent5>
        <a:srgbClr val="FDE7D6"/>
      </a:accent5>
      <a:accent6>
        <a:srgbClr val="FFF3D1"/>
      </a:accent6>
      <a:hlink>
        <a:srgbClr val="7B3FC4"/>
      </a:hlink>
      <a:folHlink>
        <a:srgbClr val="3D1A6E"/>
      </a:folHlink>
    </a:clrScheme>
    <a:fontScheme name="Zero Invest Goril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Invest + Trustt — Investimento em energia solar via SCP</dc:title>
  <dc:subject>PptxGenJS Presentation</dc:subject>
  <dc:creator>Zero Invest</dc:creator>
  <cp:lastModifiedBy>Zero Invest</cp:lastModifiedBy>
  <cp:revision>1</cp:revision>
  <dcterms:created xsi:type="dcterms:W3CDTF">2026-10-28T18:28:06Z</dcterms:created>
  <dcterms:modified xsi:type="dcterms:W3CDTF">2026-10-28T18:28:06Z</dcterms:modified>
</cp:coreProperties>
</file>