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fb7f062-1fa0-0577-7b9a-caabab2ff861}">
          <p14:sldIdLst>
            <p14:sldId id="256"/>
          </p14:sldIdLst>
        </p14:section>
        <p14:section name="Tese" id="{c60cf77e-5536-1820-e0b1-ba3cc0e13f24}">
          <p14:sldIdLst>
            <p14:sldId id="257"/>
            <p14:sldId id="258"/>
            <p14:sldId id="259"/>
          </p14:sldIdLst>
        </p14:section>
        <p14:section name="Estrutura" id="{f5e960be-47e3-9ee8-d48c-c8017ce6d512}">
          <p14:sldIdLst>
            <p14:sldId id="260"/>
            <p14:sldId id="261"/>
            <p14:sldId id="262"/>
          </p14:sldIdLst>
        </p14:section>
        <p14:section name="Escala" id="{ca3b64ee-06c3-ea4c-b004-9a71ab8b4fd6}">
          <p14:sldIdLst>
            <p14:sldId id="263"/>
            <p14:sldId id="264"/>
            <p14:sldId id="265"/>
          </p14:sldIdLst>
        </p14:section>
        <p14:section name="Próximos passos" id="{5efd8ec6-f887-a76d-d3a3-abd40998b18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r>
              <a:rPr sz="1400" b="0" i="0" u="none" strike="noStrike">
                <a:solidFill>
                  <a:schemeClr val="tx2"/>
                </a:solidFill>
                <a:latin typeface="+mn-lt"/>
              </a:rPr>
              <a:t>Projetos potenciais (R$ milhões)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Projetos potenciais (R$ mi)</c:v>
                </c:pt>
              </c:strCache>
            </c:strRef>
          </c:tx>
          <c:spPr>
            <a:solidFill>
              <a:srgbClr val="F7B32B"/>
            </a:solidFill>
            <a:effectLst/>
          </c:spPr>
          <c:invertIfNegative val="0"/>
          <c:dLbls>
            <c:numFmt formatCode="&quot;R$ &quot;0.0&quot; mi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7B3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64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3FC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1% da carteira</c:v>
                  </c:pt>
                  <c:pt idx="1">
                    <c:v>3% da carteira</c:v>
                  </c:pt>
                  <c:pt idx="2">
                    <c:v>5% da carteira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9.1</c:v>
                </c:pt>
                <c:pt idx="1">
                  <c:v>27.3</c:v>
                </c:pt>
                <c:pt idx="2">
                  <c:v>45.4</c:v>
                </c:pt>
              </c:numCache>
            </c:numRef>
          </c:val>
        </c:ser>
        <c:dLbls>
          <c:numFmt formatCode="&quot;R$ &quot;0.0&quot; mi&quot;" sourceLinked="0"/>
          <c:txPr>
            <a:bodyPr/>
            <a:lstStyle/>
            <a:p>
              <a:pPr>
                <a:defRPr b="1" i="0" strike="noStrike" sz="16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4F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pela remuneração praticada atualmente e, em seguida, explicar os elementos que sustentam a oportunidade: recebíveis de condomínios, ativo físico, contratos de longo prazo e originação recorrente. IPCA + 15% ao ano não representa garantia de retorno futuro.
[Sources]
- Remuneração atual de IPCA + 15% ao ano e capacidade mensal de R$ 1 milhão informadas pelo usuário.
- Identidade visual de referência: https://zeroinvest.com.br/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Métricas internas de tração. Usar como prova de validação, sem projetar crescimento não aprovado.
[Sources]
- Dados internos Gorila Energy / Energy Spin, base informada pelo usuário.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recebível resulta do contrato de uso da usina. O investidor poderá avaliar o instrumento mais adequado após a diligência dos contratos, ativos e fluxo financeiro.
[Sources]
- Termos econômicos e contratuais informados pelo usuário.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Inadimplência zero descreve apenas a base atual e não garante o comportamento futuro. Critérios de crédito, concentração e mecanismos de controle devem ser definidos na diligência do investidor.
[Sources]
- Histórico e mecanismos de proteção informados pelo usuário.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a distinção pedida pelo usuário: Gorila Energy é a marca; Energy Spin é a empresa responsável pela operação.
[Sources]
- Arquitetura de marca e operação fornecida pelo usuário.
- Manual e logos oficiais Gorila Energy fornecidos pelo usuário.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Cálculo ilustrativo: R$ 1 milhão dividido pelo ticket médio aproximado de R$ 202 mil equivale a 4,95 projetos por mês, ou cerca de 60 por ano. A quantidade final depende do orçamento e da análise de cada projeto.
IPCA + 15% ao ano representa a remuneração praticada atualmente. A taxa final e as demais condições dependem da estrutura escolhida e da aprovação do investidor.
[Sources]
- Capacidade mensal de R$ 1 milhão e remuneração atual de IPCA + 15% ao ano informadas pelo usuário.
- Ticket médio calculado com base no pipeline: R$ 10,7 milhões dividido por 53 condomínios, aproximadamente R$ 202 mil.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slide apresenta os atributos econômicos e jurídicos da oportunidade sem recomendar um instrumento específico. O investidor poderá avaliar dívida direta, veículo de recebíveis, nota comercial, debênture ou outra estrutura, conforme a diligência.
[Sources]
- Modelo operacional e contratual informado pelo usuário.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mensagem combina capacidade de mobilização nacional, histórico executivo dos sócios e acesso comercial qualificado a condomínios.
[Sources]
- Históricos profissionais do arquivo socios.pptx fornecido pelo usuário.
- Arquitetura operacional Gorila Energy / Energy Spin fornecida pelo usuário.
- Parceria com a Lello e carteira de 4.500 prédios informadas pelo usuário.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pipeline atual cobre mais de dez meses da cadência pretendida. A carteira de 4.500 prédios da Lello funciona como canal contínuo de reposição do funil. Cada aquisição permanece sujeita aos critérios de elegibilidade definidos com o investidor.
[Sources]
- Pipeline de 53 condomínios e R$ 10,7 milhões informado pelo usuário, base abril de 2025.
- Contrato médio de 12 anos e condição comercial de 30% de economia informados pelo usuário.
- Parceria com a Lello e carteira de 4.500 prédios informadas pelo usuário.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cenários mostram a sensibilidade da oportunidade a pequenas taxas de conversão da carteira Lello. Não são projeções nem garantias de venda.
[Sources]
- Carteira Lello de 4.500 prédios informada pelo usuário.
- Ticket médio calculado a partir do pipeline informado: R$ 10,7 milhões dividido por 53 condomínios = aproximadamente R$ 202 mil por condomínio.
- Cálculos: 45 × R$ 202 mil ≈ R$ 9,1 milhões; 135 × R$ 202 mil ≈ R$ 27,3 milhões; 225 × R$ 202 mil ≈ R$ 45,4 milhões.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uma proposta de diligência e implantação de uma esteira mensal. IPCA + 15% ao ano representa a remuneração praticada atualmente, e não uma garantia de rentabilidade futura. Volume, preço, prazo, garantias e instrumento permanecem sujeitos à análise e aprovação do investidor.
[Sources]
- Capacidade mensal de R$ 1 milhão e remuneração atual de IPCA + 15% ao ano informadas pelo usuário.
- Estimativa de aproximadamente 5 projetos por mês baseada no ticket médio atual.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3"/>
                </a:solidFill>
              </a:rPr>
              <a:t>ZERO INVEST  •  GORILA ENERGY  •  OPERAÇÃO ENERGY SPIN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A0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2"/>
                </a:solidFill>
              </a:rPr>
              <a:t>ZERO INVEST  •  GORILA ENERGY  •  OPERAÇÃO ENERGY SPIN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A0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ver-panel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mark-ring"/>
          <p:cNvSpPr/>
          <p:nvPr/>
        </p:nvSpPr>
        <p:spPr>
          <a:xfrm>
            <a:off x="8366760" y="1234440"/>
            <a:ext cx="3337560" cy="33375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5" name="Image 0" descr="Símbolo Gorila Energ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1805940"/>
            <a:ext cx="1600200" cy="2194560"/>
          </a:xfrm>
          <a:prstGeom prst="rect">
            <a:avLst/>
          </a:prstGeom>
        </p:spPr>
      </p:pic>
      <p:pic>
        <p:nvPicPr>
          <p:cNvPr id="6" name="Image 1" descr="Logo Gorila Energ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463040" cy="643370"/>
          </a:xfrm>
          <a:prstGeom prst="rect">
            <a:avLst/>
          </a:prstGeom>
        </p:spPr>
      </p:pic>
      <p:sp>
        <p:nvSpPr>
          <p:cNvPr id="7" name="pill-zero"/>
          <p:cNvSpPr/>
          <p:nvPr/>
        </p:nvSpPr>
        <p:spPr>
          <a:xfrm>
            <a:off x="2286000" y="566928"/>
            <a:ext cx="146304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2286000" y="5669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ZERO INVEST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173736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 de investimento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energia solar</a:t>
            </a:r>
            <a:endParaRPr lang="en-US" sz="38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3337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</a:rPr>
              <a:t>Recebíveis mensais de condomínios, contratos longos e ativos físicos identificáveis.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4800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IPCA + 15%</a:t>
            </a:r>
            <a:endParaRPr lang="en-US" sz="2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AEE0"/>
                </a:solidFill>
              </a:rPr>
              <a:t>remuneração atual a.a.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2834640" y="4800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anos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283464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AEE0"/>
                </a:solidFill>
              </a:rPr>
              <a:t>contrato médio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120640" y="4800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512064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AEE0"/>
                </a:solidFill>
              </a:rPr>
              <a:t>inadimplência histórica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GORILA ENERGY  •  OPERAÇÃO ENERGY SPIN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7863840" y="5029200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9CCF0"/>
                </a:solidFill>
              </a:rPr>
              <a:t>Energia solar para condomínios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TRAÇÃO COMPROVADA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 modelo já saiu do papel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4F70"/>
                </a:solidFill>
              </a:rPr>
              <a:t>Uma base pequena, real e suficiente para validar operação, contrato e adimplência.</a:t>
            </a:r>
            <a:endParaRPr lang="en-US" sz="1600" dirty="0"/>
          </a:p>
        </p:txBody>
      </p:sp>
      <p:sp>
        <p:nvSpPr>
          <p:cNvPr id="6" name="stat-card-0"/>
          <p:cNvSpPr/>
          <p:nvPr/>
        </p:nvSpPr>
        <p:spPr>
          <a:xfrm>
            <a:off x="548640" y="2103120"/>
            <a:ext cx="2567864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</p:sp>
      <p:sp>
        <p:nvSpPr>
          <p:cNvPr id="7" name="icon-circle-FaHandHoldingUsd"/>
          <p:cNvSpPr/>
          <p:nvPr/>
        </p:nvSpPr>
        <p:spPr>
          <a:xfrm>
            <a:off x="822960" y="23774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mage 0" descr="FaHandHoldingUs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54889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324612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R$ 580 mil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97764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capital captado</a:t>
            </a:r>
            <a:endParaRPr lang="en-US" sz="1500" dirty="0"/>
          </a:p>
        </p:txBody>
      </p:sp>
      <p:sp>
        <p:nvSpPr>
          <p:cNvPr id="11" name="stat-card-1"/>
          <p:cNvSpPr/>
          <p:nvPr/>
        </p:nvSpPr>
        <p:spPr>
          <a:xfrm>
            <a:off x="3390824" y="2103120"/>
            <a:ext cx="2567864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</p:sp>
      <p:sp>
        <p:nvSpPr>
          <p:cNvPr id="12" name="icon-circle-FaSolarPanel"/>
          <p:cNvSpPr/>
          <p:nvPr/>
        </p:nvSpPr>
        <p:spPr>
          <a:xfrm>
            <a:off x="3665144" y="23774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Solar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594" y="254889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65144" y="324612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15" name="Text 10"/>
          <p:cNvSpPr txBox="1"/>
          <p:nvPr/>
        </p:nvSpPr>
        <p:spPr>
          <a:xfrm>
            <a:off x="3665144" y="397764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ativos fotovoltaicos</a:t>
            </a:r>
            <a:endParaRPr lang="en-US" sz="1500" dirty="0"/>
          </a:p>
        </p:txBody>
      </p:sp>
      <p:sp>
        <p:nvSpPr>
          <p:cNvPr id="16" name="stat-card-2"/>
          <p:cNvSpPr/>
          <p:nvPr/>
        </p:nvSpPr>
        <p:spPr>
          <a:xfrm>
            <a:off x="6233008" y="2103120"/>
            <a:ext cx="2567864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</p:sp>
      <p:sp>
        <p:nvSpPr>
          <p:cNvPr id="17" name="icon-circle-FaFileContract"/>
          <p:cNvSpPr/>
          <p:nvPr/>
        </p:nvSpPr>
        <p:spPr>
          <a:xfrm>
            <a:off x="6507328" y="23774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FaFileContra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778" y="2548890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07328" y="324612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R$ 2,9 mi</a:t>
            </a:r>
            <a:endParaRPr lang="en-US" sz="3200" dirty="0"/>
          </a:p>
        </p:txBody>
      </p:sp>
      <p:sp>
        <p:nvSpPr>
          <p:cNvPr id="20" name="Text 14"/>
          <p:cNvSpPr txBox="1"/>
          <p:nvPr/>
        </p:nvSpPr>
        <p:spPr>
          <a:xfrm>
            <a:off x="6507328" y="397764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recebíveis contratados</a:t>
            </a:r>
            <a:endParaRPr lang="en-US" sz="1500" dirty="0"/>
          </a:p>
        </p:txBody>
      </p:sp>
      <p:sp>
        <p:nvSpPr>
          <p:cNvPr id="21" name="stat-card-3"/>
          <p:cNvSpPr/>
          <p:nvPr/>
        </p:nvSpPr>
        <p:spPr>
          <a:xfrm>
            <a:off x="9075191" y="2103120"/>
            <a:ext cx="2567864" cy="237744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</p:sp>
      <p:sp>
        <p:nvSpPr>
          <p:cNvPr id="22" name="icon-circle-FaShieldAlt"/>
          <p:cNvSpPr/>
          <p:nvPr/>
        </p:nvSpPr>
        <p:spPr>
          <a:xfrm>
            <a:off x="9349511" y="23774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3" descr="FaShield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961" y="2548890"/>
            <a:ext cx="342900" cy="342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349511" y="324612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3200" dirty="0"/>
          </a:p>
        </p:txBody>
      </p:sp>
      <p:sp>
        <p:nvSpPr>
          <p:cNvPr id="25" name="Text 18"/>
          <p:cNvSpPr txBox="1"/>
          <p:nvPr/>
        </p:nvSpPr>
        <p:spPr>
          <a:xfrm>
            <a:off x="9349511" y="397764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inadimplência</a:t>
            </a:r>
            <a:endParaRPr lang="en-US" sz="1500" dirty="0"/>
          </a:p>
        </p:txBody>
      </p:sp>
      <p:sp>
        <p:nvSpPr>
          <p:cNvPr id="26" name="callout"/>
          <p:cNvSpPr/>
          <p:nvPr/>
        </p:nvSpPr>
        <p:spPr>
          <a:xfrm>
            <a:off x="548640" y="4846320"/>
            <a:ext cx="11094415" cy="109728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914400" y="4846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BASE ECONÔMICA VALIDADA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3749040" y="484632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 operação atual combina IPCA + 15% ao ano, contratos de longo prazo e inadimplência histórica de 0%.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FORMAÇÃO DO FLUXO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 recebível nasce de um ativo instalado e de um contrato</a:t>
            </a:r>
            <a:endParaRPr lang="en-US" sz="2800" dirty="0"/>
          </a:p>
        </p:txBody>
      </p:sp>
      <p:sp>
        <p:nvSpPr>
          <p:cNvPr id="5" name="icon-circle-FaCoins"/>
          <p:cNvSpPr/>
          <p:nvPr/>
        </p:nvSpPr>
        <p:spPr>
          <a:xfrm>
            <a:off x="1097280" y="205740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FaCoi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377440"/>
            <a:ext cx="640080" cy="640080"/>
          </a:xfrm>
          <a:prstGeom prst="rect">
            <a:avLst/>
          </a:prstGeom>
        </p:spPr>
      </p:pic>
      <p:sp>
        <p:nvSpPr>
          <p:cNvPr id="7" name="step-num-0"/>
          <p:cNvSpPr/>
          <p:nvPr/>
        </p:nvSpPr>
        <p:spPr>
          <a:xfrm>
            <a:off x="2011680" y="201168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011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Financia a implantação</a:t>
            </a:r>
            <a:endParaRPr lang="en-US" sz="1500" dirty="0"/>
          </a:p>
        </p:txBody>
      </p:sp>
      <p:sp>
        <p:nvSpPr>
          <p:cNvPr id="11" name="arrow-0"/>
          <p:cNvSpPr/>
          <p:nvPr/>
        </p:nvSpPr>
        <p:spPr>
          <a:xfrm>
            <a:off x="3053029" y="2560320"/>
            <a:ext cx="274320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2" name="icon-circle-FaSolarPanel"/>
          <p:cNvSpPr/>
          <p:nvPr/>
        </p:nvSpPr>
        <p:spPr>
          <a:xfrm>
            <a:off x="4002938" y="205740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Solar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8" y="2377440"/>
            <a:ext cx="640080" cy="640080"/>
          </a:xfrm>
          <a:prstGeom prst="rect">
            <a:avLst/>
          </a:prstGeom>
        </p:spPr>
      </p:pic>
      <p:sp>
        <p:nvSpPr>
          <p:cNvPr id="14" name="step-num-1"/>
          <p:cNvSpPr/>
          <p:nvPr/>
        </p:nvSpPr>
        <p:spPr>
          <a:xfrm>
            <a:off x="4917338" y="201168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91733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454298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 solar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3454298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É comprado e instalado</a:t>
            </a:r>
            <a:endParaRPr lang="en-US" sz="1500" dirty="0"/>
          </a:p>
        </p:txBody>
      </p:sp>
      <p:sp>
        <p:nvSpPr>
          <p:cNvPr id="18" name="arrow-1"/>
          <p:cNvSpPr/>
          <p:nvPr/>
        </p:nvSpPr>
        <p:spPr>
          <a:xfrm>
            <a:off x="5958688" y="2560320"/>
            <a:ext cx="274320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9" name="icon-circle-FaBuilding"/>
          <p:cNvSpPr/>
          <p:nvPr/>
        </p:nvSpPr>
        <p:spPr>
          <a:xfrm>
            <a:off x="6908597" y="2057400"/>
            <a:ext cx="1280160" cy="12801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2" descr="FaBuild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637" y="2377440"/>
            <a:ext cx="640080" cy="640080"/>
          </a:xfrm>
          <a:prstGeom prst="rect">
            <a:avLst/>
          </a:prstGeom>
        </p:spPr>
      </p:pic>
      <p:sp>
        <p:nvSpPr>
          <p:cNvPr id="21" name="step-num-2"/>
          <p:cNvSpPr/>
          <p:nvPr/>
        </p:nvSpPr>
        <p:spPr>
          <a:xfrm>
            <a:off x="7822997" y="201168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22997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359957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Condomínio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6359957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Paga pelo uso contratado</a:t>
            </a:r>
            <a:endParaRPr lang="en-US" sz="1500" dirty="0"/>
          </a:p>
        </p:txBody>
      </p:sp>
      <p:sp>
        <p:nvSpPr>
          <p:cNvPr id="25" name="arrow-2"/>
          <p:cNvSpPr/>
          <p:nvPr/>
        </p:nvSpPr>
        <p:spPr>
          <a:xfrm>
            <a:off x="8864346" y="2560320"/>
            <a:ext cx="274320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6" name="icon-circle-FaHandHoldingUsd"/>
          <p:cNvSpPr/>
          <p:nvPr/>
        </p:nvSpPr>
        <p:spPr>
          <a:xfrm>
            <a:off x="9814255" y="2057400"/>
            <a:ext cx="1280160" cy="12801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mage 3" descr="FaHandHoldingUs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2377440"/>
            <a:ext cx="640080" cy="640080"/>
          </a:xfrm>
          <a:prstGeom prst="rect">
            <a:avLst/>
          </a:prstGeom>
        </p:spPr>
      </p:pic>
      <p:sp>
        <p:nvSpPr>
          <p:cNvPr id="28" name="step-num-3"/>
          <p:cNvSpPr/>
          <p:nvPr/>
        </p:nvSpPr>
        <p:spPr>
          <a:xfrm>
            <a:off x="10728655" y="201168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0728655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04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9265615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Recebível mensal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9265615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O fluxo retorna ao investidor</a:t>
            </a:r>
            <a:endParaRPr lang="en-US" sz="1500" dirty="0"/>
          </a:p>
        </p:txBody>
      </p:sp>
      <p:sp>
        <p:nvSpPr>
          <p:cNvPr id="32" name="pill-0"/>
          <p:cNvSpPr/>
          <p:nvPr/>
        </p:nvSpPr>
        <p:spPr>
          <a:xfrm>
            <a:off x="548640" y="4800600"/>
            <a:ext cx="5394960" cy="1051560"/>
          </a:xfrm>
          <a:prstGeom prst="roundRect">
            <a:avLst>
              <a:gd name="adj" fmla="val 13043"/>
            </a:avLst>
          </a:prstGeom>
          <a:solidFill>
            <a:schemeClr val="accent6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914400" y="48006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anos</a:t>
            </a:r>
            <a:endParaRPr lang="en-US" sz="3200" dirty="0"/>
          </a:p>
        </p:txBody>
      </p:sp>
      <p:sp>
        <p:nvSpPr>
          <p:cNvPr id="34" name="Text 27"/>
          <p:cNvSpPr txBox="1"/>
          <p:nvPr/>
        </p:nvSpPr>
        <p:spPr>
          <a:xfrm>
            <a:off x="2743200" y="48006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 contrato médio</a:t>
            </a:r>
            <a:endParaRPr lang="en-US" sz="1600" dirty="0"/>
          </a:p>
        </p:txBody>
      </p:sp>
      <p:sp>
        <p:nvSpPr>
          <p:cNvPr id="35" name="pill-1"/>
          <p:cNvSpPr/>
          <p:nvPr/>
        </p:nvSpPr>
        <p:spPr>
          <a:xfrm>
            <a:off x="6217920" y="4800600"/>
            <a:ext cx="5394960" cy="1051560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6583680" y="48006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200" dirty="0"/>
          </a:p>
        </p:txBody>
      </p:sp>
      <p:sp>
        <p:nvSpPr>
          <p:cNvPr id="37" name="Text 30"/>
          <p:cNvSpPr txBox="1"/>
          <p:nvPr/>
        </p:nvSpPr>
        <p:spPr>
          <a:xfrm>
            <a:off x="8412480" y="48006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 economia inicial para o condomínio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PROTEÇÕES DA CARTEIRA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 crédito combina contraparte formal, ativo e contrato</a:t>
            </a:r>
            <a:endParaRPr lang="en-US" sz="2800" dirty="0"/>
          </a:p>
        </p:txBody>
      </p:sp>
      <p:sp>
        <p:nvSpPr>
          <p:cNvPr id="5" name="zero-panel"/>
          <p:cNvSpPr/>
          <p:nvPr/>
        </p:nvSpPr>
        <p:spPr>
          <a:xfrm>
            <a:off x="548640" y="1920240"/>
            <a:ext cx="3840480" cy="402336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22402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inadimplência até aqui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343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AEE0"/>
                </a:solidFill>
              </a:rPr>
              <a:t>Histórico é evidência operacional — não promessa de performance futura.</a:t>
            </a:r>
            <a:endParaRPr lang="en-US" sz="1400" dirty="0"/>
          </a:p>
        </p:txBody>
      </p:sp>
      <p:sp>
        <p:nvSpPr>
          <p:cNvPr id="9" name="prot-card-0"/>
          <p:cNvSpPr/>
          <p:nvPr/>
        </p:nvSpPr>
        <p:spPr>
          <a:xfrm>
            <a:off x="4663440" y="1920240"/>
            <a:ext cx="3352648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0" name="icon-circle-FaBuilding"/>
          <p:cNvSpPr/>
          <p:nvPr/>
        </p:nvSpPr>
        <p:spPr>
          <a:xfrm>
            <a:off x="4937760" y="21945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0" descr="Fa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6350" y="23431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2194560"/>
            <a:ext cx="2072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CONTRAPARTE FORMAL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926080"/>
            <a:ext cx="2804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Contrato com CNPJ e aprovação em assembleia.</a:t>
            </a:r>
            <a:endParaRPr lang="en-US" sz="1500" dirty="0"/>
          </a:p>
        </p:txBody>
      </p:sp>
      <p:sp>
        <p:nvSpPr>
          <p:cNvPr id="14" name="prot-card-1"/>
          <p:cNvSpPr/>
          <p:nvPr/>
        </p:nvSpPr>
        <p:spPr>
          <a:xfrm>
            <a:off x="8290408" y="1920240"/>
            <a:ext cx="3352648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5" name="icon-circle-FaSolarPanel"/>
          <p:cNvSpPr/>
          <p:nvPr/>
        </p:nvSpPr>
        <p:spPr>
          <a:xfrm>
            <a:off x="8564728" y="21945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1" descr="FaSolar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318" y="234315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41968" y="2194560"/>
            <a:ext cx="2072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ATIVO FÍSICO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564728" y="2926080"/>
            <a:ext cx="2804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Equipamento identificável, segurável e retomável.</a:t>
            </a:r>
            <a:endParaRPr lang="en-US" sz="1500" dirty="0"/>
          </a:p>
        </p:txBody>
      </p:sp>
      <p:sp>
        <p:nvSpPr>
          <p:cNvPr id="19" name="prot-card-2"/>
          <p:cNvSpPr/>
          <p:nvPr/>
        </p:nvSpPr>
        <p:spPr>
          <a:xfrm>
            <a:off x="4663440" y="4069080"/>
            <a:ext cx="3352648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20" name="icon-circle-FaLock"/>
          <p:cNvSpPr/>
          <p:nvPr/>
        </p:nvSpPr>
        <p:spPr>
          <a:xfrm>
            <a:off x="4937760" y="4343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Fa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449199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15000" y="4343400"/>
            <a:ext cx="2072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FLUXO CONTROLADO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937760" y="5074920"/>
            <a:ext cx="2804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Cessão, conta vinculada e cash sweep podem reforçar o controle.</a:t>
            </a:r>
            <a:endParaRPr lang="en-US" sz="1500" dirty="0"/>
          </a:p>
        </p:txBody>
      </p:sp>
      <p:sp>
        <p:nvSpPr>
          <p:cNvPr id="24" name="prot-card-3"/>
          <p:cNvSpPr/>
          <p:nvPr/>
        </p:nvSpPr>
        <p:spPr>
          <a:xfrm>
            <a:off x="8290408" y="4069080"/>
            <a:ext cx="3352648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25" name="icon-circle-FaTools"/>
          <p:cNvSpPr/>
          <p:nvPr/>
        </p:nvSpPr>
        <p:spPr>
          <a:xfrm>
            <a:off x="8564728" y="43434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3" descr="FaToo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318" y="449199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341968" y="4343400"/>
            <a:ext cx="2072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OPERAÇÃO LOCAL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8564728" y="5074920"/>
            <a:ext cx="2804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Monitoramento, manutenção e presença em campo.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ARQUITETURA CLARA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Gorila Energy abre o mercado. Energy Spin entrega a operação.</a:t>
            </a:r>
            <a:endParaRPr lang="en-US" sz="2800" dirty="0"/>
          </a:p>
        </p:txBody>
      </p:sp>
      <p:sp>
        <p:nvSpPr>
          <p:cNvPr id="5" name="arch-MARCA E RELACIONAMENTO"/>
          <p:cNvSpPr/>
          <p:nvPr/>
        </p:nvSpPr>
        <p:spPr>
          <a:xfrm>
            <a:off x="548640" y="1920240"/>
            <a:ext cx="5239512" cy="34290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52400" dist="38100" dir="5400000">
              <a:srgbClr val="2A0F52">
                <a:alpha val="12000"/>
              </a:srgbClr>
            </a:outerShdw>
          </a:effectLst>
        </p:spPr>
      </p:sp>
      <p:pic>
        <p:nvPicPr>
          <p:cNvPr id="6" name="Image 0" descr="Gorila Energ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1463040" cy="64337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2971800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MARCA E RELACIONAMENTO</a:t>
            </a:r>
            <a:endParaRPr lang="en-US" sz="1300" dirty="0"/>
          </a:p>
        </p:txBody>
      </p:sp>
      <p:pic>
        <p:nvPicPr>
          <p:cNvPr id="8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529584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3474720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Canais comerciais</a:t>
            </a:r>
            <a:endParaRPr lang="en-US" sz="1600" dirty="0"/>
          </a:p>
        </p:txBody>
      </p:sp>
      <p:pic>
        <p:nvPicPr>
          <p:cNvPr id="10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68496"/>
            <a:ext cx="237744" cy="23774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325880" y="3913632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Condomínios e administradoras</a:t>
            </a:r>
            <a:endParaRPr lang="en-US" sz="1600" dirty="0"/>
          </a:p>
        </p:txBody>
      </p:sp>
      <p:pic>
        <p:nvPicPr>
          <p:cNvPr id="12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07408"/>
            <a:ext cx="237744" cy="2377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325880" y="4352544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Proposta de valor</a:t>
            </a:r>
            <a:endParaRPr lang="en-US" sz="1600" dirty="0"/>
          </a:p>
        </p:txBody>
      </p:sp>
      <p:pic>
        <p:nvPicPr>
          <p:cNvPr id="14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846320"/>
            <a:ext cx="237744" cy="237744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325880" y="4791456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Confiança de mercado</a:t>
            </a:r>
            <a:endParaRPr lang="en-US" sz="1600" dirty="0"/>
          </a:p>
        </p:txBody>
      </p:sp>
      <p:sp>
        <p:nvSpPr>
          <p:cNvPr id="16" name="arch-ESTRUTURAÇÃO E OPERAÇÃO"/>
          <p:cNvSpPr/>
          <p:nvPr/>
        </p:nvSpPr>
        <p:spPr>
          <a:xfrm>
            <a:off x="6400800" y="1920240"/>
            <a:ext cx="5239512" cy="342900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52400" dist="38100" dir="5400000">
              <a:srgbClr val="2A0F52">
                <a:alpha val="12000"/>
              </a:srgbClr>
            </a:outerShdw>
          </a:effectLst>
        </p:spPr>
      </p:sp>
      <p:sp>
        <p:nvSpPr>
          <p:cNvPr id="17" name="Text 9"/>
          <p:cNvSpPr txBox="1"/>
          <p:nvPr/>
        </p:nvSpPr>
        <p:spPr>
          <a:xfrm>
            <a:off x="681228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SPIN</a:t>
            </a:r>
            <a:endParaRPr lang="en-US" sz="2600" dirty="0"/>
          </a:p>
        </p:txBody>
      </p:sp>
      <p:sp>
        <p:nvSpPr>
          <p:cNvPr id="18" name="Text 10"/>
          <p:cNvSpPr txBox="1"/>
          <p:nvPr/>
        </p:nvSpPr>
        <p:spPr>
          <a:xfrm>
            <a:off x="6812280" y="2971800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ESTRUTURAÇÃO E OPERAÇÃO</a:t>
            </a:r>
            <a:endParaRPr lang="en-US" sz="1300" dirty="0"/>
          </a:p>
        </p:txBody>
      </p:sp>
      <p:pic>
        <p:nvPicPr>
          <p:cNvPr id="19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3529584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178040" y="3474720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Engenharia e implantação</a:t>
            </a:r>
            <a:endParaRPr lang="en-US" sz="1600" dirty="0"/>
          </a:p>
        </p:txBody>
      </p:sp>
      <p:pic>
        <p:nvPicPr>
          <p:cNvPr id="21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3968496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178040" y="3913632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Contratos e recebíveis</a:t>
            </a:r>
            <a:endParaRPr lang="en-US" sz="1600" dirty="0"/>
          </a:p>
        </p:txBody>
      </p:sp>
      <p:pic>
        <p:nvPicPr>
          <p:cNvPr id="23" name="Image 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4407408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7178040" y="4352544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Monitoramento e manutenção</a:t>
            </a:r>
            <a:endParaRPr lang="en-US" sz="1600" dirty="0"/>
          </a:p>
        </p:txBody>
      </p:sp>
      <p:pic>
        <p:nvPicPr>
          <p:cNvPr id="25" name="Image 8" descr="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0" y="4846320"/>
            <a:ext cx="237744" cy="237744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178040" y="4791456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Gestão financeira do ativo</a:t>
            </a:r>
            <a:endParaRPr lang="en-US" sz="1600" dirty="0"/>
          </a:p>
        </p:txBody>
      </p:sp>
      <p:sp>
        <p:nvSpPr>
          <p:cNvPr id="27" name="plus"/>
          <p:cNvSpPr/>
          <p:nvPr/>
        </p:nvSpPr>
        <p:spPr>
          <a:xfrm>
            <a:off x="5728716" y="3268980"/>
            <a:ext cx="731520" cy="73152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8" name="Text 16"/>
          <p:cNvSpPr txBox="1"/>
          <p:nvPr/>
        </p:nvSpPr>
        <p:spPr>
          <a:xfrm>
            <a:off x="5728716" y="32689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+</a:t>
            </a:r>
            <a:endParaRPr lang="en-US" sz="2800" dirty="0"/>
          </a:p>
        </p:txBody>
      </p:sp>
      <p:sp>
        <p:nvSpPr>
          <p:cNvPr id="29" name="Text 17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Uma frente comercial forte, apoiada por uma operação especializada.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RETORNO E CAPACIDADE DE ALOCAÇÃO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IPCA + 15% ao ano é a remuneração praticada atualmente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CF0"/>
                </a:solidFill>
              </a:rPr>
              <a:t>A rentabilidade vem acompanhada de uma esteira mensal de novos projetos e recebíveis.</a:t>
            </a:r>
            <a:endParaRPr lang="en-US" sz="1600" dirty="0"/>
          </a:p>
        </p:txBody>
      </p:sp>
      <p:sp>
        <p:nvSpPr>
          <p:cNvPr id="6" name="big-card-0"/>
          <p:cNvSpPr/>
          <p:nvPr/>
        </p:nvSpPr>
        <p:spPr>
          <a:xfrm>
            <a:off x="548640" y="2103120"/>
            <a:ext cx="5394960" cy="3200400"/>
          </a:xfrm>
          <a:prstGeom prst="roundRect">
            <a:avLst>
              <a:gd name="adj" fmla="val 4286"/>
            </a:avLst>
          </a:prstGeom>
          <a:solidFill>
            <a:schemeClr val="accent4"/>
          </a:solidFill>
          <a:ln/>
        </p:spPr>
      </p:sp>
      <p:sp>
        <p:nvSpPr>
          <p:cNvPr id="7" name="icon-circle-FaChartLine"/>
          <p:cNvSpPr/>
          <p:nvPr/>
        </p:nvSpPr>
        <p:spPr>
          <a:xfrm>
            <a:off x="960120" y="24231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FaChar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59461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2423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AO ANO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3246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IPCA + 15%</a:t>
            </a:r>
            <a:endParaRPr lang="en-US" sz="60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4343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CCF0"/>
                </a:solidFill>
              </a:rPr>
              <a:t>Remuneração paga atualmente ao capital investido nos projetos.</a:t>
            </a:r>
            <a:endParaRPr lang="en-US" sz="1600" dirty="0"/>
          </a:p>
        </p:txBody>
      </p:sp>
      <p:sp>
        <p:nvSpPr>
          <p:cNvPr id="12" name="big-card-1"/>
          <p:cNvSpPr/>
          <p:nvPr/>
        </p:nvSpPr>
        <p:spPr>
          <a:xfrm>
            <a:off x="6217920" y="2103120"/>
            <a:ext cx="5394960" cy="3200400"/>
          </a:xfrm>
          <a:prstGeom prst="roundRect">
            <a:avLst>
              <a:gd name="adj" fmla="val 4286"/>
            </a:avLst>
          </a:prstGeom>
          <a:solidFill>
            <a:schemeClr val="accent4"/>
          </a:solidFill>
          <a:ln/>
        </p:spPr>
      </p:sp>
      <p:sp>
        <p:nvSpPr>
          <p:cNvPr id="13" name="icon-circle-FaBolt"/>
          <p:cNvSpPr/>
          <p:nvPr/>
        </p:nvSpPr>
        <p:spPr>
          <a:xfrm>
            <a:off x="6629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FaBo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2594610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98080" y="2423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POR MÊS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629400" y="3246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 mi</a:t>
            </a:r>
            <a:endParaRPr lang="en-US" sz="6000" dirty="0"/>
          </a:p>
        </p:txBody>
      </p:sp>
      <p:sp>
        <p:nvSpPr>
          <p:cNvPr id="17" name="Text 12"/>
          <p:cNvSpPr txBox="1"/>
          <p:nvPr/>
        </p:nvSpPr>
        <p:spPr>
          <a:xfrm>
            <a:off x="6629400" y="4343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CCF0"/>
                </a:solidFill>
              </a:rPr>
              <a:t>Capacidade equivalente a ≈ 5 projetos por mês (≈ 60 por ano) no ticket médio atual.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AEE0"/>
                </a:solidFill>
              </a:rPr>
              <a:t>A taxa final e as condições dependem da estrutura escolhida e da análise do investidor.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CARACTERÍSTICAS DO INVESTIMENTO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oportunidade combina fluxo recorrente e proteção real</a:t>
            </a:r>
            <a:endParaRPr lang="en-US" sz="2800" dirty="0"/>
          </a:p>
        </p:txBody>
      </p:sp>
      <p:sp>
        <p:nvSpPr>
          <p:cNvPr id="5" name="car-card-0"/>
          <p:cNvSpPr/>
          <p:nvPr/>
        </p:nvSpPr>
        <p:spPr>
          <a:xfrm>
            <a:off x="548640" y="1920240"/>
            <a:ext cx="3515258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/>
        </p:spPr>
      </p:sp>
      <p:sp>
        <p:nvSpPr>
          <p:cNvPr id="6" name="icon-circle-FaSyncAlt"/>
          <p:cNvSpPr/>
          <p:nvPr/>
        </p:nvSpPr>
        <p:spPr>
          <a:xfrm>
            <a:off x="914400" y="22402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FaSync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4460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875178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9C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3375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chemeClr val="tx2"/>
                </a:solidFill>
              </a:rPr>
              <a:t>RECEBÍVEL RECORRENTE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9476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4F70"/>
                </a:solidFill>
              </a:rPr>
              <a:t>Pagamentos mensais vinculados a contratos de longo prazo.</a:t>
            </a:r>
            <a:endParaRPr lang="en-US" sz="1600" dirty="0"/>
          </a:p>
        </p:txBody>
      </p:sp>
      <p:sp>
        <p:nvSpPr>
          <p:cNvPr id="11" name="car-card-1"/>
          <p:cNvSpPr/>
          <p:nvPr/>
        </p:nvSpPr>
        <p:spPr>
          <a:xfrm>
            <a:off x="4338218" y="1920240"/>
            <a:ext cx="3515258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/>
        </p:spPr>
      </p:sp>
      <p:sp>
        <p:nvSpPr>
          <p:cNvPr id="12" name="icon-circle-FaBuilding"/>
          <p:cNvSpPr/>
          <p:nvPr/>
        </p:nvSpPr>
        <p:spPr>
          <a:xfrm>
            <a:off x="4703978" y="22402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Buil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718" y="24460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64757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9C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0"/>
          <p:cNvSpPr txBox="1"/>
          <p:nvPr/>
        </p:nvSpPr>
        <p:spPr>
          <a:xfrm>
            <a:off x="4703978" y="33375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chemeClr val="tx2"/>
                </a:solidFill>
              </a:rPr>
              <a:t>CONDOMÍNIOS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703978" y="379476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4F70"/>
                </a:solidFill>
              </a:rPr>
              <a:t>Contrapartes formais, com decisão registrada em assembleia.</a:t>
            </a:r>
            <a:endParaRPr lang="en-US" sz="1600" dirty="0"/>
          </a:p>
        </p:txBody>
      </p:sp>
      <p:sp>
        <p:nvSpPr>
          <p:cNvPr id="17" name="car-card-2"/>
          <p:cNvSpPr/>
          <p:nvPr/>
        </p:nvSpPr>
        <p:spPr>
          <a:xfrm>
            <a:off x="8127797" y="1920240"/>
            <a:ext cx="3515258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/>
        </p:spPr>
      </p:sp>
      <p:sp>
        <p:nvSpPr>
          <p:cNvPr id="18" name="icon-circle-FaSolarPanel"/>
          <p:cNvSpPr/>
          <p:nvPr/>
        </p:nvSpPr>
        <p:spPr>
          <a:xfrm>
            <a:off x="8493557" y="224028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2" descr="FaSolarPan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297" y="24460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454335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D9C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5"/>
          <p:cNvSpPr txBox="1"/>
          <p:nvPr/>
        </p:nvSpPr>
        <p:spPr>
          <a:xfrm>
            <a:off x="8493557" y="33375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chemeClr val="tx2"/>
                </a:solidFill>
              </a:rPr>
              <a:t>ATIVO FÍSICO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493557" y="379476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4F70"/>
                </a:solidFill>
              </a:rPr>
              <a:t>Usina identificável, segurável, monitorada e potencialmente retomável.</a:t>
            </a:r>
            <a:endParaRPr lang="en-US" sz="1600" dirty="0"/>
          </a:p>
        </p:txBody>
      </p:sp>
      <p:sp>
        <p:nvSpPr>
          <p:cNvPr id="23" name="note"/>
          <p:cNvSpPr/>
          <p:nvPr/>
        </p:nvSpPr>
        <p:spPr>
          <a:xfrm>
            <a:off x="548640" y="5166360"/>
            <a:ext cx="11094415" cy="8229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24" name="icon-circle-FaSearch"/>
          <p:cNvSpPr/>
          <p:nvPr/>
        </p:nvSpPr>
        <p:spPr>
          <a:xfrm>
            <a:off x="822960" y="5303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3" descr="Fa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4406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00200" y="51663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 investidor poderá definir a estrutura mais eficiente após a diligência jurídica e operacional.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CAPILARIDADE PARA ESCALAR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 experiência dos sócios sustenta uma operação de alcance nacional</a:t>
            </a:r>
            <a:endParaRPr lang="en-US" sz="2800" dirty="0"/>
          </a:p>
        </p:txBody>
      </p:sp>
      <p:pic>
        <p:nvPicPr>
          <p:cNvPr id="5" name="Image 0" descr="map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2011680"/>
            <a:ext cx="2377440" cy="2377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148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</a:t>
            </a:r>
            <a:endParaRPr lang="en-US" sz="7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429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</a:rPr>
              <a:t>Capacidade de mobilizar instalação, homologação e operação em qualquer região.</a:t>
            </a:r>
            <a:endParaRPr lang="en-US" sz="1800" dirty="0"/>
          </a:p>
        </p:txBody>
      </p:sp>
      <p:sp>
        <p:nvSpPr>
          <p:cNvPr id="8" name="std-pill"/>
          <p:cNvSpPr/>
          <p:nvPr/>
        </p:nvSpPr>
        <p:spPr>
          <a:xfrm>
            <a:off x="548640" y="4754880"/>
            <a:ext cx="4754880" cy="109728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6868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Um padrão único de execução — do diagnóstico ao O&amp;M.</a:t>
            </a:r>
            <a:endParaRPr lang="en-US" sz="1800" dirty="0"/>
          </a:p>
        </p:txBody>
      </p:sp>
      <p:sp>
        <p:nvSpPr>
          <p:cNvPr id="10" name="row-0"/>
          <p:cNvSpPr/>
          <p:nvPr/>
        </p:nvSpPr>
        <p:spPr>
          <a:xfrm>
            <a:off x="5852160" y="1965960"/>
            <a:ext cx="5790895" cy="1143000"/>
          </a:xfrm>
          <a:prstGeom prst="roundRect">
            <a:avLst>
              <a:gd name="adj" fmla="val 9600"/>
            </a:avLst>
          </a:prstGeom>
          <a:solidFill>
            <a:schemeClr val="accent4"/>
          </a:solidFill>
          <a:ln/>
        </p:spPr>
      </p:sp>
      <p:sp>
        <p:nvSpPr>
          <p:cNvPr id="11" name="icon-circle-FaNetworkWired"/>
          <p:cNvSpPr/>
          <p:nvPr/>
        </p:nvSpPr>
        <p:spPr>
          <a:xfrm>
            <a:off x="6126480" y="21945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FaNetworkWir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930" y="236601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40880" y="2121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2"/>
                </a:solidFill>
              </a:rPr>
              <a:t>OPERAÇÕES DE CAMPO EM ESCALA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7040880" y="24414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Ricardo liderou redes, infraestrutura e equipes distribuídas nacionalmente.</a:t>
            </a:r>
            <a:endParaRPr lang="en-US" sz="1500" dirty="0"/>
          </a:p>
        </p:txBody>
      </p:sp>
      <p:sp>
        <p:nvSpPr>
          <p:cNvPr id="15" name="row-1"/>
          <p:cNvSpPr/>
          <p:nvPr/>
        </p:nvSpPr>
        <p:spPr>
          <a:xfrm>
            <a:off x="5852160" y="3291840"/>
            <a:ext cx="5790895" cy="1143000"/>
          </a:xfrm>
          <a:prstGeom prst="roundRect">
            <a:avLst>
              <a:gd name="adj" fmla="val 9600"/>
            </a:avLst>
          </a:prstGeom>
          <a:solidFill>
            <a:schemeClr val="accent4"/>
          </a:solidFill>
          <a:ln/>
        </p:spPr>
      </p:sp>
      <p:sp>
        <p:nvSpPr>
          <p:cNvPr id="16" name="icon-circle-FaCogs"/>
          <p:cNvSpPr/>
          <p:nvPr/>
        </p:nvSpPr>
        <p:spPr>
          <a:xfrm>
            <a:off x="6126480" y="35204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30" y="369189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40880" y="3447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ENGENHARIA E SISTEMAS CRÍTICOS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040880" y="37673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Sérgio traz experiência executiva em ambientes Oi e GVT.</a:t>
            </a:r>
            <a:endParaRPr lang="en-US" sz="1500" dirty="0"/>
          </a:p>
        </p:txBody>
      </p:sp>
      <p:sp>
        <p:nvSpPr>
          <p:cNvPr id="20" name="row-2"/>
          <p:cNvSpPr/>
          <p:nvPr/>
        </p:nvSpPr>
        <p:spPr>
          <a:xfrm>
            <a:off x="5852160" y="4617720"/>
            <a:ext cx="5790895" cy="1143000"/>
          </a:xfrm>
          <a:prstGeom prst="roundRect">
            <a:avLst>
              <a:gd name="adj" fmla="val 9600"/>
            </a:avLst>
          </a:prstGeom>
          <a:solidFill>
            <a:schemeClr val="accent4"/>
          </a:solidFill>
          <a:ln/>
        </p:spPr>
      </p:sp>
      <p:sp>
        <p:nvSpPr>
          <p:cNvPr id="21" name="icon-circle-FaHandshake"/>
          <p:cNvSpPr/>
          <p:nvPr/>
        </p:nvSpPr>
        <p:spPr>
          <a:xfrm>
            <a:off x="6126480" y="48463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3" descr="FaHandshak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930" y="501777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40880" y="4773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8F5"/>
                </a:solidFill>
              </a:rPr>
              <a:t>CANAL COMERCIAL DE ESCALA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7040880" y="50932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parceria com a Lello conecta a Gorila a uma carteira de 4.500 prédios.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CAPACIDADE DE ORIGINAÇÃO RECORRENTE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Temos como alimentar uma esteira de R$ 1 milhão por mês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4F70"/>
                </a:solidFill>
              </a:rPr>
              <a:t>O pipeline atual dá visibilidade inicial, enquanto a parceria com a Lello amplia continuamente o topo do funil.</a:t>
            </a:r>
            <a:endParaRPr lang="en-US" sz="1600" dirty="0"/>
          </a:p>
        </p:txBody>
      </p:sp>
      <p:sp>
        <p:nvSpPr>
          <p:cNvPr id="6" name="o-stat-0"/>
          <p:cNvSpPr/>
          <p:nvPr/>
        </p:nvSpPr>
        <p:spPr>
          <a:xfrm>
            <a:off x="548640" y="2103120"/>
            <a:ext cx="260604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4F70"/>
                </a:solidFill>
              </a:rPr>
              <a:t>condomínios mapeados</a:t>
            </a:r>
            <a:endParaRPr lang="en-US" sz="1400" dirty="0"/>
          </a:p>
        </p:txBody>
      </p:sp>
      <p:sp>
        <p:nvSpPr>
          <p:cNvPr id="9" name="o-stat-1"/>
          <p:cNvSpPr/>
          <p:nvPr/>
        </p:nvSpPr>
        <p:spPr>
          <a:xfrm>
            <a:off x="3337560" y="2103120"/>
            <a:ext cx="260604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1188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R$ 10,7 mi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4F70"/>
                </a:solidFill>
              </a:rPr>
              <a:t>em projetos no pipeline</a:t>
            </a:r>
            <a:endParaRPr lang="en-US" sz="1400" dirty="0"/>
          </a:p>
        </p:txBody>
      </p:sp>
      <p:sp>
        <p:nvSpPr>
          <p:cNvPr id="12" name="o-stat-2"/>
          <p:cNvSpPr/>
          <p:nvPr/>
        </p:nvSpPr>
        <p:spPr>
          <a:xfrm>
            <a:off x="548640" y="3611880"/>
            <a:ext cx="260604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anos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4F70"/>
                </a:solidFill>
              </a:rPr>
              <a:t>de contrato médio</a:t>
            </a:r>
            <a:endParaRPr lang="en-US" sz="1400" dirty="0"/>
          </a:p>
        </p:txBody>
      </p:sp>
      <p:sp>
        <p:nvSpPr>
          <p:cNvPr id="15" name="o-stat-3"/>
          <p:cNvSpPr/>
          <p:nvPr/>
        </p:nvSpPr>
        <p:spPr>
          <a:xfrm>
            <a:off x="3337560" y="3611880"/>
            <a:ext cx="260604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1188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361188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4F70"/>
                </a:solidFill>
              </a:rPr>
              <a:t>de economia inicial</a:t>
            </a:r>
            <a:endParaRPr lang="en-US" sz="1400" dirty="0"/>
          </a:p>
        </p:txBody>
      </p:sp>
      <p:sp>
        <p:nvSpPr>
          <p:cNvPr id="18" name="coverage"/>
          <p:cNvSpPr/>
          <p:nvPr/>
        </p:nvSpPr>
        <p:spPr>
          <a:xfrm>
            <a:off x="6400800" y="2103120"/>
            <a:ext cx="5242255" cy="2834640"/>
          </a:xfrm>
          <a:prstGeom prst="roundRect">
            <a:avLst>
              <a:gd name="adj" fmla="val 4839"/>
            </a:avLst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76656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COBERTURA DA ESTEIRA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2697480"/>
            <a:ext cx="45107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10+ meses</a:t>
            </a:r>
            <a:endParaRPr lang="en-US" sz="4000" dirty="0"/>
          </a:p>
          <a:p>
            <a:pPr indent="0" marL="0">
              <a:buNone/>
            </a:pPr>
            <a:r>
              <a:rPr lang="en-US" sz="1600" dirty="0">
                <a:solidFill>
                  <a:srgbClr val="D9CCF0"/>
                </a:solidFill>
              </a:rPr>
              <a:t>de alocação a R$ 1 mi/mês já no pipeline atual</a:t>
            </a:r>
            <a:endParaRPr lang="en-US" sz="4000" dirty="0"/>
          </a:p>
        </p:txBody>
      </p:sp>
      <p:sp>
        <p:nvSpPr>
          <p:cNvPr id="21" name="month-0"/>
          <p:cNvSpPr/>
          <p:nvPr/>
        </p:nvSpPr>
        <p:spPr>
          <a:xfrm>
            <a:off x="6766560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2" name="month-1"/>
          <p:cNvSpPr/>
          <p:nvPr/>
        </p:nvSpPr>
        <p:spPr>
          <a:xfrm>
            <a:off x="7224949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3" name="month-2"/>
          <p:cNvSpPr/>
          <p:nvPr/>
        </p:nvSpPr>
        <p:spPr>
          <a:xfrm>
            <a:off x="7683337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4" name="month-3"/>
          <p:cNvSpPr/>
          <p:nvPr/>
        </p:nvSpPr>
        <p:spPr>
          <a:xfrm>
            <a:off x="8141726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5" name="month-4"/>
          <p:cNvSpPr/>
          <p:nvPr/>
        </p:nvSpPr>
        <p:spPr>
          <a:xfrm>
            <a:off x="8600115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6" name="month-5"/>
          <p:cNvSpPr/>
          <p:nvPr/>
        </p:nvSpPr>
        <p:spPr>
          <a:xfrm>
            <a:off x="9058504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7" name="month-6"/>
          <p:cNvSpPr/>
          <p:nvPr/>
        </p:nvSpPr>
        <p:spPr>
          <a:xfrm>
            <a:off x="9516892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8" name="month-7"/>
          <p:cNvSpPr/>
          <p:nvPr/>
        </p:nvSpPr>
        <p:spPr>
          <a:xfrm>
            <a:off x="9975281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29" name="month-8"/>
          <p:cNvSpPr/>
          <p:nvPr/>
        </p:nvSpPr>
        <p:spPr>
          <a:xfrm>
            <a:off x="10433670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30" name="month-9"/>
          <p:cNvSpPr/>
          <p:nvPr/>
        </p:nvSpPr>
        <p:spPr>
          <a:xfrm>
            <a:off x="10892058" y="4069080"/>
            <a:ext cx="385237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766560" y="4480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AEE0"/>
                </a:solidFill>
              </a:rPr>
              <a:t>Mês 1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0362895" y="4480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AEE0"/>
                </a:solidFill>
              </a:rPr>
              <a:t>Mês 10</a:t>
            </a:r>
            <a:endParaRPr lang="en-US" sz="1100" dirty="0"/>
          </a:p>
        </p:txBody>
      </p:sp>
      <p:sp>
        <p:nvSpPr>
          <p:cNvPr id="33" name="lello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17647"/>
            </a:avLst>
          </a:prstGeom>
          <a:solidFill>
            <a:schemeClr val="accent6"/>
          </a:solidFill>
          <a:ln/>
        </p:spPr>
      </p:sp>
      <p:sp>
        <p:nvSpPr>
          <p:cNvPr id="34" name="icon-circle-FaHandshake"/>
          <p:cNvSpPr/>
          <p:nvPr/>
        </p:nvSpPr>
        <p:spPr>
          <a:xfrm>
            <a:off x="822960" y="53721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mage 0" descr="FaHandsha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509260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1600200" y="5257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CANAL DE ACESSO   </a:t>
            </a:r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Lello • carteira de 4.500 prédios para reposição contínua do funil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CENÁRIOS DE PENETRAÇÃO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5% da carteira Lello representa R$ 45 milhões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4F70"/>
                </a:solidFill>
              </a:rPr>
              <a:t>Ticket médio estimado do pipeline atual: R$ 202 mil por condomínio.</a:t>
            </a:r>
            <a:endParaRPr lang="en-US" sz="1600" dirty="0"/>
          </a:p>
        </p:txBody>
      </p:sp>
      <p:graphicFrame>
        <p:nvGraphicFramePr>
          <p:cNvPr id="6" name="Chart 0" descr="Gráfico de colunas: 1% = R$ 9,1 mi; 3% = R$ 27,3 mi; 5% = R$ 45,4 mi"/>
          <p:cNvGraphicFramePr/>
          <p:nvPr/>
        </p:nvGraphicFramePr>
        <p:xfrm>
          <a:off x="548640" y="192024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c-0"/>
          <p:cNvSpPr/>
          <p:nvPr/>
        </p:nvSpPr>
        <p:spPr>
          <a:xfrm>
            <a:off x="7680960" y="1920240"/>
            <a:ext cx="3962095" cy="91440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8" name="sc-dot-0"/>
          <p:cNvSpPr/>
          <p:nvPr/>
        </p:nvSpPr>
        <p:spPr>
          <a:xfrm>
            <a:off x="7863840" y="2057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638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1%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686800" y="19202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45 prédios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0332720" y="19202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R$ 9,1 mi</a:t>
            </a:r>
            <a:endParaRPr lang="en-US" sz="1500" dirty="0"/>
          </a:p>
        </p:txBody>
      </p:sp>
      <p:sp>
        <p:nvSpPr>
          <p:cNvPr id="12" name="sc-1"/>
          <p:cNvSpPr/>
          <p:nvPr/>
        </p:nvSpPr>
        <p:spPr>
          <a:xfrm>
            <a:off x="7680960" y="3017520"/>
            <a:ext cx="3962095" cy="91440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3" name="sc-dot-1"/>
          <p:cNvSpPr/>
          <p:nvPr/>
        </p:nvSpPr>
        <p:spPr>
          <a:xfrm>
            <a:off x="7863840" y="3154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86384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3%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135 prédios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10332720" y="30175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R$ 27,3 mi</a:t>
            </a:r>
            <a:endParaRPr lang="en-US" sz="1500" dirty="0"/>
          </a:p>
        </p:txBody>
      </p:sp>
      <p:sp>
        <p:nvSpPr>
          <p:cNvPr id="17" name="sc-2"/>
          <p:cNvSpPr/>
          <p:nvPr/>
        </p:nvSpPr>
        <p:spPr>
          <a:xfrm>
            <a:off x="7680960" y="4114800"/>
            <a:ext cx="3962095" cy="91440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8" name="sc-dot-2"/>
          <p:cNvSpPr/>
          <p:nvPr/>
        </p:nvSpPr>
        <p:spPr>
          <a:xfrm>
            <a:off x="7863840" y="42519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86384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5%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8686800" y="4114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225 prédios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10332720" y="41148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4F70"/>
                </a:solidFill>
              </a:rPr>
              <a:t>R$ 45,4 mi</a:t>
            </a:r>
            <a:endParaRPr lang="en-US" sz="1500" dirty="0"/>
          </a:p>
        </p:txBody>
      </p:sp>
      <p:sp>
        <p:nvSpPr>
          <p:cNvPr id="22" name="calc"/>
          <p:cNvSpPr/>
          <p:nvPr/>
        </p:nvSpPr>
        <p:spPr>
          <a:xfrm>
            <a:off x="7680960" y="5257800"/>
            <a:ext cx="3962095" cy="91440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90956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CENÁRIOS ILUSTRATIVOS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7909560" y="5623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CCF0"/>
                </a:solidFill>
              </a:rPr>
              <a:t>Base de cálculo: 4.500 prédios × cenário de conversão × ticket médio de R$ 202 mil.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PRÓXIMOS PASSOS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estruturar a esteira mensal?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CF0"/>
                </a:solidFill>
              </a:rPr>
              <a:t>Próximos passos para diligência:</a:t>
            </a:r>
            <a:endParaRPr lang="en-US" sz="1600" dirty="0"/>
          </a:p>
        </p:txBody>
      </p:sp>
      <p:sp>
        <p:nvSpPr>
          <p:cNvPr id="6" name="icon-circle-FaListAlt"/>
          <p:cNvSpPr/>
          <p:nvPr/>
        </p:nvSpPr>
        <p:spPr>
          <a:xfrm>
            <a:off x="548640" y="32461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FaList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34061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3246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Alinhar critérios de elegibilidade e concentração</a:t>
            </a:r>
            <a:endParaRPr lang="en-US" sz="1800" dirty="0"/>
          </a:p>
        </p:txBody>
      </p:sp>
      <p:sp>
        <p:nvSpPr>
          <p:cNvPr id="9" name="icon-circle-FaFolderOpen"/>
          <p:cNvSpPr/>
          <p:nvPr/>
        </p:nvSpPr>
        <p:spPr>
          <a:xfrm>
            <a:off x="548640" y="4114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FaFolder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427482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4114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Abrir contratos, contas, projetos e histórico</a:t>
            </a:r>
            <a:endParaRPr lang="en-US" sz="1800" dirty="0"/>
          </a:p>
        </p:txBody>
      </p:sp>
      <p:sp>
        <p:nvSpPr>
          <p:cNvPr id="12" name="icon-circle-FaCalendarCheck"/>
          <p:cNvSpPr/>
          <p:nvPr/>
        </p:nvSpPr>
        <p:spPr>
          <a:xfrm>
            <a:off x="548640" y="4983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FaCalenda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51435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4983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Definir estrutura, cronograma e condições da alocação</a:t>
            </a:r>
            <a:endParaRPr lang="en-US" sz="1800" dirty="0"/>
          </a:p>
        </p:txBody>
      </p:sp>
      <p:sp>
        <p:nvSpPr>
          <p:cNvPr id="15" name="offer"/>
          <p:cNvSpPr/>
          <p:nvPr/>
        </p:nvSpPr>
        <p:spPr>
          <a:xfrm>
            <a:off x="7955280" y="868680"/>
            <a:ext cx="3687775" cy="5120640"/>
          </a:xfrm>
          <a:prstGeom prst="roundRect">
            <a:avLst>
              <a:gd name="adj" fmla="val 4959"/>
            </a:avLst>
          </a:prstGeom>
          <a:solidFill>
            <a:schemeClr val="accent4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8138160" y="1371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IPCA + 15%</a:t>
            </a:r>
            <a:endParaRPr lang="en-US" sz="4000" dirty="0"/>
          </a:p>
        </p:txBody>
      </p:sp>
      <p:sp>
        <p:nvSpPr>
          <p:cNvPr id="17" name="Text 11"/>
          <p:cNvSpPr txBox="1"/>
          <p:nvPr/>
        </p:nvSpPr>
        <p:spPr>
          <a:xfrm>
            <a:off x="813816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REMUNERAÇÃO ATUAL AO ANO</a:t>
            </a:r>
            <a:endParaRPr lang="en-US" sz="1200" dirty="0"/>
          </a:p>
        </p:txBody>
      </p:sp>
      <p:sp>
        <p:nvSpPr>
          <p:cNvPr id="18" name="div"/>
          <p:cNvSpPr/>
          <p:nvPr/>
        </p:nvSpPr>
        <p:spPr>
          <a:xfrm>
            <a:off x="8686800" y="2880360"/>
            <a:ext cx="2194560" cy="0"/>
          </a:xfrm>
          <a:prstGeom prst="line">
            <a:avLst/>
          </a:prstGeom>
          <a:noFill/>
          <a:ln w="12700">
            <a:solidFill>
              <a:srgbClr val="6B4A9E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138160" y="3154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 mi/mês</a:t>
            </a:r>
            <a:endParaRPr lang="en-US" sz="3400" dirty="0"/>
          </a:p>
        </p:txBody>
      </p:sp>
      <p:sp>
        <p:nvSpPr>
          <p:cNvPr id="20" name="Text 14"/>
          <p:cNvSpPr txBox="1"/>
          <p:nvPr/>
        </p:nvSpPr>
        <p:spPr>
          <a:xfrm>
            <a:off x="813816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CCF0"/>
                </a:solidFill>
              </a:rPr>
              <a:t>≈ 5 projetos por mês</a:t>
            </a:r>
            <a:endParaRPr lang="en-US" sz="1400" dirty="0"/>
          </a:p>
        </p:txBody>
      </p:sp>
      <p:pic>
        <p:nvPicPr>
          <p:cNvPr id="21" name="Image 3" descr="Gorila Energ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4754880"/>
            <a:ext cx="1188720" cy="522738"/>
          </a:xfrm>
          <a:prstGeom prst="rect">
            <a:avLst/>
          </a:prstGeom>
        </p:spPr>
      </p:pic>
      <p:sp>
        <p:nvSpPr>
          <p:cNvPr id="22" name="Text 1"/>
          <p:cNvSpPr/>
          <p:nvPr>
            <p:ph idx="102" type="title" hasCustomPrompt="1"/>
          </p:nvPr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ero Invest Gorila">
  <a:themeElements>
    <a:clrScheme name="Zero Invest Gorila">
      <a:dk1>
        <a:srgbClr val="1B1030"/>
      </a:dk1>
      <a:lt1>
        <a:srgbClr val="FFFFFF"/>
      </a:lt1>
      <a:dk2>
        <a:srgbClr val="2A0F52"/>
      </a:dk2>
      <a:lt2>
        <a:srgbClr val="F5F2FA"/>
      </a:lt2>
      <a:accent1>
        <a:srgbClr val="E8641B"/>
      </a:accent1>
      <a:accent2>
        <a:srgbClr val="F7B32B"/>
      </a:accent2>
      <a:accent3>
        <a:srgbClr val="7B3FC4"/>
      </a:accent3>
      <a:accent4>
        <a:srgbClr val="3D1A6E"/>
      </a:accent4>
      <a:accent5>
        <a:srgbClr val="FDE7D6"/>
      </a:accent5>
      <a:accent6>
        <a:srgbClr val="FFF3D1"/>
      </a:accent6>
      <a:hlink>
        <a:srgbClr val="7B3FC4"/>
      </a:hlink>
      <a:folHlink>
        <a:srgbClr val="3D1A6E"/>
      </a:folHlink>
    </a:clrScheme>
    <a:fontScheme name="Zero Invest Goril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Invest — Oportunidade de investimento em energia solar</dc:title>
  <dc:subject>PptxGenJS Presentation</dc:subject>
  <dc:creator>Zero Invest</dc:creator>
  <cp:lastModifiedBy>Zero Invest</cp:lastModifiedBy>
  <cp:revision>1</cp:revision>
  <dcterms:created xsi:type="dcterms:W3CDTF">2026-10-24T16:13:44Z</dcterms:created>
  <dcterms:modified xsi:type="dcterms:W3CDTF">2026-10-24T16:13:44Z</dcterms:modified>
</cp:coreProperties>
</file>